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  <p:sldMasterId id="2147483689" r:id="rId2"/>
  </p:sldMasterIdLst>
  <p:notesMasterIdLst>
    <p:notesMasterId r:id="rId41"/>
  </p:notesMasterIdLst>
  <p:handoutMasterIdLst>
    <p:handoutMasterId r:id="rId42"/>
  </p:handoutMasterIdLst>
  <p:sldIdLst>
    <p:sldId id="1574" r:id="rId3"/>
    <p:sldId id="1690" r:id="rId4"/>
    <p:sldId id="1628" r:id="rId5"/>
    <p:sldId id="1627" r:id="rId6"/>
    <p:sldId id="1629" r:id="rId7"/>
    <p:sldId id="1631" r:id="rId8"/>
    <p:sldId id="1684" r:id="rId9"/>
    <p:sldId id="1651" r:id="rId10"/>
    <p:sldId id="1670" r:id="rId11"/>
    <p:sldId id="1671" r:id="rId12"/>
    <p:sldId id="1672" r:id="rId13"/>
    <p:sldId id="1688" r:id="rId14"/>
    <p:sldId id="1677" r:id="rId15"/>
    <p:sldId id="1689" r:id="rId16"/>
    <p:sldId id="1632" r:id="rId17"/>
    <p:sldId id="1633" r:id="rId18"/>
    <p:sldId id="1652" r:id="rId19"/>
    <p:sldId id="1653" r:id="rId20"/>
    <p:sldId id="1654" r:id="rId21"/>
    <p:sldId id="1655" r:id="rId22"/>
    <p:sldId id="1656" r:id="rId23"/>
    <p:sldId id="1657" r:id="rId24"/>
    <p:sldId id="1678" r:id="rId25"/>
    <p:sldId id="1662" r:id="rId26"/>
    <p:sldId id="1680" r:id="rId27"/>
    <p:sldId id="1661" r:id="rId28"/>
    <p:sldId id="1683" r:id="rId29"/>
    <p:sldId id="1660" r:id="rId30"/>
    <p:sldId id="1682" r:id="rId31"/>
    <p:sldId id="1658" r:id="rId32"/>
    <p:sldId id="1685" r:id="rId33"/>
    <p:sldId id="1663" r:id="rId34"/>
    <p:sldId id="1686" r:id="rId35"/>
    <p:sldId id="1664" r:id="rId36"/>
    <p:sldId id="1687" r:id="rId37"/>
    <p:sldId id="1659" r:id="rId38"/>
    <p:sldId id="1668" r:id="rId39"/>
    <p:sldId id="1626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성준 권" initials="성권" lastIdx="2" clrIdx="0">
    <p:extLst>
      <p:ext uri="{19B8F6BF-5375-455C-9EA6-DF929625EA0E}">
        <p15:presenceInfo xmlns:p15="http://schemas.microsoft.com/office/powerpoint/2012/main" userId="성준 권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182C4"/>
    <a:srgbClr val="535353"/>
    <a:srgbClr val="D9E4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2" autoAdjust="0"/>
    <p:restoredTop sz="96073" autoAdjust="0"/>
  </p:normalViewPr>
  <p:slideViewPr>
    <p:cSldViewPr snapToGrid="0" showGuides="1">
      <p:cViewPr varScale="1">
        <p:scale>
          <a:sx n="98" d="100"/>
          <a:sy n="98" d="100"/>
        </p:scale>
        <p:origin x="200" y="6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4" d="100"/>
          <a:sy n="94" d="100"/>
        </p:scale>
        <p:origin x="2832" y="19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commentAuthors" Target="commentAuthor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A52BF2FD-C1D2-4B75-8B62-8DF1E390B6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D400DF-5DCB-4013-A962-DEB5D49701E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C5B5CA-62C4-44D2-B6A6-C969A46DC8B6}" type="datetimeFigureOut">
              <a:rPr lang="ko-KR" altLang="en-US" smtClean="0"/>
              <a:t>2026. 3. 15.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8BF6B96-CA22-4D79-9541-7975053FBD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5FBA83-EF83-4668-83E8-146E170C47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82F0FB-6EE0-4400-AC72-55DD3AE518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96399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6B8D96F4-0440-4337-857B-2B273C55436A}" type="datetimeFigureOut">
              <a:rPr lang="ko-KR" altLang="en-US" smtClean="0"/>
              <a:pPr/>
              <a:t>2026. 3. 15.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75CE14F3-4869-4E26-9B94-20A0F4003C5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0743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">
            <a:extLst>
              <a:ext uri="{FF2B5EF4-FFF2-40B4-BE49-F238E27FC236}">
                <a16:creationId xmlns:a16="http://schemas.microsoft.com/office/drawing/2014/main" id="{A56E77A6-8ADD-4EB1-8F4F-C3B85B33B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293" y="2701675"/>
            <a:ext cx="10515600" cy="584775"/>
          </a:xfrm>
          <a:prstGeom prst="rect">
            <a:avLst/>
          </a:prstGeom>
        </p:spPr>
        <p:txBody>
          <a:bodyPr/>
          <a:lstStyle>
            <a:lvl1pPr algn="ctr">
              <a:defRPr sz="4400" b="1"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2218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5E921BF-BE86-46B4-9755-1F9CAB16288F}"/>
              </a:ext>
            </a:extLst>
          </p:cNvPr>
          <p:cNvSpPr/>
          <p:nvPr userDrawn="1"/>
        </p:nvSpPr>
        <p:spPr>
          <a:xfrm>
            <a:off x="8" y="422"/>
            <a:ext cx="12191992" cy="609118"/>
          </a:xfrm>
          <a:prstGeom prst="rect">
            <a:avLst/>
          </a:prstGeom>
          <a:solidFill>
            <a:srgbClr val="018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ea typeface="나눔고딕" panose="020D0604000000000000" pitchFamily="50" charset="-127"/>
            </a:endParaRP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7947FAD5-AB89-4DD5-8C62-05791481AE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101" y="65268"/>
            <a:ext cx="10947400" cy="479425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lvl="0"/>
            <a:r>
              <a:rPr lang="ko-KR" altLang="en-US" dirty="0"/>
              <a:t>목차</a:t>
            </a:r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4DCC147A-4B31-496C-8741-B66620C20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599" y="927100"/>
            <a:ext cx="11160369" cy="5670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7150" indent="-228600" algn="l" defTabSz="914400" rtl="0" eaLnBrk="1" latinLnBrk="1" hangingPunct="1">
              <a:lnSpc>
                <a:spcPct val="100000"/>
              </a:lnSpc>
              <a:buFont typeface="Wingdings" panose="05000000000000000000" pitchFamily="2" charset="2"/>
              <a:buChar char="ü"/>
              <a:defRPr lang="ko-KR" altLang="en-US" sz="2800" b="1" kern="12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514350" indent="-228600" algn="l" defTabSz="914400" rtl="0" eaLnBrk="1" latinLnBrk="1" hangingPunct="1">
              <a:lnSpc>
                <a:spcPct val="150000"/>
              </a:lnSpc>
              <a:buFont typeface="Wingdings" panose="05000000000000000000" pitchFamily="2" charset="2"/>
              <a:buChar char="ü"/>
              <a:defRPr lang="ko-KR" altLang="en-US" sz="2800" b="1" kern="12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971550" indent="-228600" algn="l" defTabSz="914400" rtl="0" eaLnBrk="1" latinLnBrk="1" hangingPunct="1">
              <a:lnSpc>
                <a:spcPct val="150000"/>
              </a:lnSpc>
              <a:buFont typeface="Wingdings" panose="05000000000000000000" pitchFamily="2" charset="2"/>
              <a:buChar char="ü"/>
              <a:defRPr lang="ko-KR" altLang="en-US" sz="2800" b="1" kern="12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1428750" indent="-228600" algn="l" defTabSz="914400" rtl="0" eaLnBrk="1" latinLnBrk="1" hangingPunct="1">
              <a:lnSpc>
                <a:spcPct val="150000"/>
              </a:lnSpc>
              <a:buFont typeface="Wingdings" panose="05000000000000000000" pitchFamily="2" charset="2"/>
              <a:buChar char="ü"/>
              <a:defRPr lang="ko-KR" altLang="en-US" sz="2800" b="1" kern="12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1885950" indent="-228600" algn="l" defTabSz="914400" rtl="0" eaLnBrk="1" latinLnBrk="1" hangingPunct="1">
              <a:lnSpc>
                <a:spcPct val="150000"/>
              </a:lnSpc>
              <a:buFont typeface="Wingdings" panose="05000000000000000000" pitchFamily="2" charset="2"/>
              <a:buChar char="ü"/>
              <a:defRPr lang="ko-KR" altLang="en-US" sz="2800" b="1" kern="12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842117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73429BF-EE6B-492C-809E-0615BC118F77}"/>
              </a:ext>
            </a:extLst>
          </p:cNvPr>
          <p:cNvSpPr/>
          <p:nvPr userDrawn="1"/>
        </p:nvSpPr>
        <p:spPr>
          <a:xfrm>
            <a:off x="8" y="422"/>
            <a:ext cx="12191992" cy="609118"/>
          </a:xfrm>
          <a:prstGeom prst="rect">
            <a:avLst/>
          </a:prstGeom>
          <a:solidFill>
            <a:srgbClr val="018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ea typeface="나눔고딕" panose="020D0604000000000000" pitchFamily="50" charset="-127"/>
            </a:endParaRPr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16F0E1CD-B5F6-49F5-AFE9-127CB47DB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599" y="927100"/>
            <a:ext cx="11160369" cy="5670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7150" indent="-228600" algn="l" defTabSz="914400" rtl="0" eaLnBrk="1" latinLnBrk="1" hangingPunct="1">
              <a:lnSpc>
                <a:spcPct val="150000"/>
              </a:lnSpc>
              <a:buFont typeface="Wingdings" panose="05000000000000000000" pitchFamily="2" charset="2"/>
              <a:buChar char="ü"/>
              <a:defRPr lang="ko-KR" altLang="en-US" sz="2800" b="1" kern="12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514350" indent="-228600" algn="l" defTabSz="914400" rtl="0" eaLnBrk="1" latinLnBrk="1" hangingPunct="1">
              <a:lnSpc>
                <a:spcPct val="150000"/>
              </a:lnSpc>
              <a:buFont typeface="Wingdings" panose="05000000000000000000" pitchFamily="2" charset="2"/>
              <a:buChar char="ü"/>
              <a:defRPr lang="ko-KR" altLang="en-US" sz="2800" b="1" kern="12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971550" indent="-228600" algn="l" defTabSz="914400" rtl="0" eaLnBrk="1" latinLnBrk="1" hangingPunct="1">
              <a:lnSpc>
                <a:spcPct val="150000"/>
              </a:lnSpc>
              <a:buFont typeface="Wingdings" panose="05000000000000000000" pitchFamily="2" charset="2"/>
              <a:buChar char="ü"/>
              <a:defRPr lang="ko-KR" altLang="en-US" sz="2800" b="1" kern="12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1428750" indent="-228600" algn="l" defTabSz="914400" rtl="0" eaLnBrk="1" latinLnBrk="1" hangingPunct="1">
              <a:lnSpc>
                <a:spcPct val="150000"/>
              </a:lnSpc>
              <a:buFont typeface="Wingdings" panose="05000000000000000000" pitchFamily="2" charset="2"/>
              <a:buChar char="ü"/>
              <a:defRPr lang="ko-KR" altLang="en-US" sz="2800" b="1" kern="12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1885950" indent="-228600" algn="l" defTabSz="914400" rtl="0" eaLnBrk="1" latinLnBrk="1" hangingPunct="1">
              <a:lnSpc>
                <a:spcPct val="150000"/>
              </a:lnSpc>
              <a:buFont typeface="Wingdings" panose="05000000000000000000" pitchFamily="2" charset="2"/>
              <a:buChar char="ü"/>
              <a:defRPr lang="ko-KR" altLang="en-US" sz="2800" b="1" kern="12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60D76F-6877-41E9-997D-9138E3A2B7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101" y="65268"/>
            <a:ext cx="10947400" cy="479425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</p:spTree>
    <p:extLst>
      <p:ext uri="{BB962C8B-B14F-4D97-AF65-F5344CB8AC3E}">
        <p14:creationId xmlns:p14="http://schemas.microsoft.com/office/powerpoint/2010/main" val="59492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CA3935-8C30-4930-AD7C-B0D880871E1E}"/>
              </a:ext>
            </a:extLst>
          </p:cNvPr>
          <p:cNvSpPr txBox="1"/>
          <p:nvPr userDrawn="1"/>
        </p:nvSpPr>
        <p:spPr>
          <a:xfrm>
            <a:off x="1019863" y="2893869"/>
            <a:ext cx="10369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본 콘텐츠는 </a:t>
            </a:r>
            <a:r>
              <a:rPr lang="en-US" altLang="ko-KR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 산업혁명 혁신선도대학 사업의 지원으로 제작되었습니다</a:t>
            </a:r>
            <a:r>
              <a:rPr lang="en-US" altLang="ko-KR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1A48130-655B-4FBA-B27A-0CEE457B84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6583" y="3551234"/>
            <a:ext cx="4175712" cy="104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650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/>
          <p:cNvSpPr/>
          <p:nvPr userDrawn="1"/>
        </p:nvSpPr>
        <p:spPr>
          <a:xfrm>
            <a:off x="430743" y="404813"/>
            <a:ext cx="11330516" cy="6048375"/>
          </a:xfrm>
          <a:prstGeom prst="roundRect">
            <a:avLst>
              <a:gd name="adj" fmla="val 5013"/>
            </a:avLst>
          </a:prstGeom>
          <a:solidFill>
            <a:schemeClr val="accent1">
              <a:alpha val="84710"/>
            </a:schemeClr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>
              <a:solidFill>
                <a:schemeClr val="accent6"/>
              </a:solidFill>
            </a:endParaRPr>
          </a:p>
        </p:txBody>
      </p:sp>
      <p:sp>
        <p:nvSpPr>
          <p:cNvPr id="7" name="텍스트 개체 틀 6"/>
          <p:cNvSpPr>
            <a:spLocks noGrp="1"/>
          </p:cNvSpPr>
          <p:nvPr userDrawn="1"/>
        </p:nvSpPr>
        <p:spPr>
          <a:xfrm>
            <a:off x="958801" y="3412605"/>
            <a:ext cx="10273141" cy="93893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 sz="3200">
              <a:solidFill>
                <a:schemeClr val="bg1"/>
              </a:solidFill>
            </a:endParaRPr>
          </a:p>
        </p:txBody>
      </p:sp>
      <p:sp>
        <p:nvSpPr>
          <p:cNvPr id="8" name="텍스트 개체 틀 6"/>
          <p:cNvSpPr>
            <a:spLocks noGrp="1"/>
          </p:cNvSpPr>
          <p:nvPr userDrawn="1"/>
        </p:nvSpPr>
        <p:spPr>
          <a:xfrm>
            <a:off x="958801" y="2348881"/>
            <a:ext cx="10273141" cy="93893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 sz="3200">
              <a:solidFill>
                <a:schemeClr val="bg1"/>
              </a:solidFill>
            </a:endParaRPr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959430" y="3412605"/>
            <a:ext cx="10273141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48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0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959430" y="2348881"/>
            <a:ext cx="10273141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54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29247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568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330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443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367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148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126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293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3246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382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1212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4473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">
            <a:extLst>
              <a:ext uri="{FF2B5EF4-FFF2-40B4-BE49-F238E27FC236}">
                <a16:creationId xmlns:a16="http://schemas.microsoft.com/office/drawing/2014/main" id="{A56E77A6-8ADD-4EB1-8F4F-C3B85B33B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293" y="2701675"/>
            <a:ext cx="10515600" cy="584775"/>
          </a:xfrm>
          <a:prstGeom prst="rect">
            <a:avLst/>
          </a:prstGeom>
        </p:spPr>
        <p:txBody>
          <a:bodyPr/>
          <a:lstStyle>
            <a:lvl1pPr algn="ctr">
              <a:defRPr sz="4400" b="1"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6242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73429BF-EE6B-492C-809E-0615BC118F77}"/>
              </a:ext>
            </a:extLst>
          </p:cNvPr>
          <p:cNvSpPr/>
          <p:nvPr userDrawn="1"/>
        </p:nvSpPr>
        <p:spPr>
          <a:xfrm>
            <a:off x="8" y="422"/>
            <a:ext cx="12191992" cy="609118"/>
          </a:xfrm>
          <a:prstGeom prst="rect">
            <a:avLst/>
          </a:prstGeom>
          <a:solidFill>
            <a:srgbClr val="018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ea typeface="나눔고딕" panose="020D0604000000000000" pitchFamily="50" charset="-127"/>
            </a:endParaRPr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16F0E1CD-B5F6-49F5-AFE9-127CB47DB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599" y="927100"/>
            <a:ext cx="11160369" cy="5670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7150" indent="-228600" algn="l" defTabSz="914400" rtl="0" eaLnBrk="1" latinLnBrk="1" hangingPunct="1">
              <a:lnSpc>
                <a:spcPct val="150000"/>
              </a:lnSpc>
              <a:buFont typeface="Wingdings" panose="05000000000000000000" pitchFamily="2" charset="2"/>
              <a:buChar char="ü"/>
              <a:defRPr lang="ko-KR" altLang="en-US" sz="2800" b="1" kern="12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514350" indent="-228600" algn="l" defTabSz="914400" rtl="0" eaLnBrk="1" latinLnBrk="1" hangingPunct="1">
              <a:lnSpc>
                <a:spcPct val="150000"/>
              </a:lnSpc>
              <a:buFont typeface="Wingdings" panose="05000000000000000000" pitchFamily="2" charset="2"/>
              <a:buChar char="ü"/>
              <a:defRPr lang="ko-KR" altLang="en-US" sz="2800" b="1" kern="12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971550" indent="-228600" algn="l" defTabSz="914400" rtl="0" eaLnBrk="1" latinLnBrk="1" hangingPunct="1">
              <a:lnSpc>
                <a:spcPct val="150000"/>
              </a:lnSpc>
              <a:buFont typeface="Wingdings" panose="05000000000000000000" pitchFamily="2" charset="2"/>
              <a:buChar char="ü"/>
              <a:defRPr lang="ko-KR" altLang="en-US" sz="2800" b="1" kern="12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1428750" indent="-228600" algn="l" defTabSz="914400" rtl="0" eaLnBrk="1" latinLnBrk="1" hangingPunct="1">
              <a:lnSpc>
                <a:spcPct val="150000"/>
              </a:lnSpc>
              <a:buFont typeface="Wingdings" panose="05000000000000000000" pitchFamily="2" charset="2"/>
              <a:buChar char="ü"/>
              <a:defRPr lang="ko-KR" altLang="en-US" sz="2800" b="1" kern="12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1885950" indent="-228600" algn="l" defTabSz="914400" rtl="0" eaLnBrk="1" latinLnBrk="1" hangingPunct="1">
              <a:lnSpc>
                <a:spcPct val="150000"/>
              </a:lnSpc>
              <a:buFont typeface="Wingdings" panose="05000000000000000000" pitchFamily="2" charset="2"/>
              <a:buChar char="ü"/>
              <a:defRPr lang="ko-KR" altLang="en-US" sz="2800" b="1" kern="12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60D76F-6877-41E9-997D-9138E3A2B7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101" y="65268"/>
            <a:ext cx="10947400" cy="479425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</p:spTree>
    <p:extLst>
      <p:ext uri="{BB962C8B-B14F-4D97-AF65-F5344CB8AC3E}">
        <p14:creationId xmlns:p14="http://schemas.microsoft.com/office/powerpoint/2010/main" val="3873903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/>
          <p:cNvSpPr/>
          <p:nvPr userDrawn="1"/>
        </p:nvSpPr>
        <p:spPr>
          <a:xfrm>
            <a:off x="430743" y="404813"/>
            <a:ext cx="11330516" cy="6048375"/>
          </a:xfrm>
          <a:prstGeom prst="roundRect">
            <a:avLst>
              <a:gd name="adj" fmla="val 5013"/>
            </a:avLst>
          </a:prstGeom>
          <a:solidFill>
            <a:schemeClr val="accent1">
              <a:alpha val="84710"/>
            </a:schemeClr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>
              <a:solidFill>
                <a:schemeClr val="accent6"/>
              </a:solidFill>
            </a:endParaRPr>
          </a:p>
        </p:txBody>
      </p:sp>
      <p:sp>
        <p:nvSpPr>
          <p:cNvPr id="7" name="텍스트 개체 틀 6"/>
          <p:cNvSpPr>
            <a:spLocks noGrp="1"/>
          </p:cNvSpPr>
          <p:nvPr userDrawn="1"/>
        </p:nvSpPr>
        <p:spPr>
          <a:xfrm>
            <a:off x="958801" y="3412605"/>
            <a:ext cx="10273141" cy="93893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 sz="3200">
              <a:solidFill>
                <a:schemeClr val="bg1"/>
              </a:solidFill>
            </a:endParaRPr>
          </a:p>
        </p:txBody>
      </p:sp>
      <p:sp>
        <p:nvSpPr>
          <p:cNvPr id="8" name="텍스트 개체 틀 6"/>
          <p:cNvSpPr>
            <a:spLocks noGrp="1"/>
          </p:cNvSpPr>
          <p:nvPr userDrawn="1"/>
        </p:nvSpPr>
        <p:spPr>
          <a:xfrm>
            <a:off x="958801" y="2348881"/>
            <a:ext cx="10273141" cy="93893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 sz="3200">
              <a:solidFill>
                <a:schemeClr val="bg1"/>
              </a:solidFill>
            </a:endParaRPr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959430" y="3412605"/>
            <a:ext cx="10273141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48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0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959430" y="2348881"/>
            <a:ext cx="10273141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54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681075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2809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3" r:id="rId2"/>
    <p:sldLayoutId id="2147483682" r:id="rId3"/>
    <p:sldLayoutId id="2147483684" r:id="rId4"/>
    <p:sldLayoutId id="2147483688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28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python.org/" TargetMode="Externa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treamlit.io/" TargetMode="External"/><Relationship Id="rId2" Type="http://schemas.openxmlformats.org/officeDocument/2006/relationships/hyperlink" Target="https://streamlit.io/" TargetMode="External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github.com/streamlit/streamlit" TargetMode="Externa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AA4A3-8621-00AC-8AC5-EDB2869A4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269085-5568-80DB-4611-BB595D224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ko-KR" altLang="en-US"/>
              <a:t>데이터 시각화 프레임워크</a:t>
            </a:r>
            <a:r>
              <a:rPr lang="en-US" altLang="ko-KR"/>
              <a:t>:</a:t>
            </a:r>
            <a:br>
              <a:rPr lang="en-US" altLang="ko-KR"/>
            </a:br>
            <a:r>
              <a:rPr lang="en-US" altLang="ko-KR"/>
              <a:t>Streamlit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5303E5-9DD3-32D9-40B3-84B94969CED8}"/>
              </a:ext>
            </a:extLst>
          </p:cNvPr>
          <p:cNvSpPr txBox="1"/>
          <p:nvPr/>
        </p:nvSpPr>
        <p:spPr>
          <a:xfrm>
            <a:off x="8251725" y="6581001"/>
            <a:ext cx="39807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Copyrightⓒ2025 By Donghyun Lee. All right reserved.</a:t>
            </a:r>
            <a:endParaRPr lang="ko-KR" altLang="en-US" sz="1200" i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6032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52BAAC8-F472-2E29-4E3E-A5AD8FD31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" altLang="ko-KR" dirty="0" err="1"/>
              <a:t>Streamlit</a:t>
            </a:r>
            <a:r>
              <a:rPr lang="en" altLang="ko-KR" dirty="0"/>
              <a:t> </a:t>
            </a:r>
            <a:r>
              <a:rPr lang="ko-KR" altLang="en-US" dirty="0"/>
              <a:t>소개</a:t>
            </a:r>
          </a:p>
          <a:p>
            <a:pPr algn="just"/>
            <a:r>
              <a:rPr lang="en-US" altLang="ko-KR" dirty="0"/>
              <a:t>2. </a:t>
            </a:r>
            <a:r>
              <a:rPr lang="ko-KR" altLang="en-US" dirty="0"/>
              <a:t>설치 및 실행</a:t>
            </a:r>
          </a:p>
          <a:p>
            <a:pPr algn="just"/>
            <a:r>
              <a:rPr lang="en-US" altLang="ko-KR" dirty="0"/>
              <a:t>3. </a:t>
            </a:r>
            <a:r>
              <a:rPr lang="ko-KR" altLang="en-US" dirty="0"/>
              <a:t>데모 페이지 탐색</a:t>
            </a:r>
          </a:p>
          <a:p>
            <a:pPr algn="just"/>
            <a:r>
              <a:rPr lang="en-US" altLang="ko-KR" dirty="0"/>
              <a:t>4. </a:t>
            </a:r>
            <a:r>
              <a:rPr lang="en" altLang="ko-KR" dirty="0" err="1"/>
              <a:t>Streamlit</a:t>
            </a:r>
            <a:r>
              <a:rPr lang="en" altLang="ko-KR" dirty="0"/>
              <a:t> </a:t>
            </a:r>
            <a:r>
              <a:rPr lang="ko-KR" altLang="en-US" dirty="0"/>
              <a:t>구성 요소</a:t>
            </a:r>
          </a:p>
          <a:p>
            <a:pPr algn="just"/>
            <a:r>
              <a:rPr lang="en-US" altLang="ko-KR" dirty="0"/>
              <a:t>5. </a:t>
            </a:r>
            <a:r>
              <a:rPr lang="ko-KR" altLang="en-US" dirty="0"/>
              <a:t>실습</a:t>
            </a:r>
            <a:endParaRPr lang="en-US" altLang="ko-KR" dirty="0"/>
          </a:p>
          <a:p>
            <a:pPr algn="just"/>
            <a:r>
              <a:rPr lang="en-US" altLang="ko-KR" dirty="0"/>
              <a:t>6.</a:t>
            </a:r>
            <a:r>
              <a:rPr lang="ko-KR" altLang="en-US" dirty="0"/>
              <a:t> 핵심 정리</a:t>
            </a:r>
            <a:endParaRPr lang="en-US" altLang="ko-KR" dirty="0"/>
          </a:p>
          <a:p>
            <a:pPr algn="just"/>
            <a:r>
              <a:rPr lang="en-US" altLang="ko-KR" dirty="0"/>
              <a:t>7.</a:t>
            </a:r>
            <a:r>
              <a:rPr lang="ko-KR" altLang="en-US" dirty="0"/>
              <a:t> 참고자료</a:t>
            </a:r>
          </a:p>
          <a:p>
            <a:pPr marL="0" indent="0" algn="just">
              <a:buNone/>
            </a:pPr>
            <a:endParaRPr lang="en-US" altLang="ko-KR" dirty="0"/>
          </a:p>
          <a:p>
            <a:pPr algn="just"/>
            <a:endParaRPr lang="ko-KR" altLang="en-US" dirty="0"/>
          </a:p>
          <a:p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890B85-D8EF-2B55-9F3F-08392B0AAE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0689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7BEF8-4153-77CC-18F4-A6FCDFA74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F65E1D3-CE6E-27A3-A196-3A9DA90A5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latinLnBrk="0"/>
            <a:r>
              <a:rPr lang="en" altLang="ko-KR" dirty="0" err="1"/>
              <a:t>Streamlit</a:t>
            </a:r>
            <a:r>
              <a:rPr lang="en" altLang="ko-KR" dirty="0"/>
              <a:t> </a:t>
            </a:r>
            <a:r>
              <a:rPr lang="ko-KR" altLang="en-US" dirty="0"/>
              <a:t>이</a:t>
            </a:r>
            <a:r>
              <a:rPr lang="ko-KR" altLang="ko-KR" dirty="0"/>
              <a:t>란</a:t>
            </a:r>
            <a:r>
              <a:rPr lang="en-US" altLang="ko-KR" dirty="0"/>
              <a:t>?</a:t>
            </a:r>
            <a:endParaRPr lang="ko-KR" altLang="ko-KR" dirty="0"/>
          </a:p>
          <a:p>
            <a:pPr lvl="1" algn="just" fontAlgn="base" latinLnBrk="0"/>
            <a:r>
              <a:rPr lang="en-US" altLang="ko-KR" dirty="0"/>
              <a:t>Python </a:t>
            </a:r>
            <a:r>
              <a:rPr lang="ko-KR" altLang="en-US" dirty="0"/>
              <a:t>기반의 데이터 웹 애플리케이션 프레임워크</a:t>
            </a:r>
            <a:endParaRPr lang="en-US" altLang="ko-KR" dirty="0"/>
          </a:p>
          <a:p>
            <a:pPr lvl="1" algn="just" fontAlgn="base" latinLnBrk="0"/>
            <a:r>
              <a:rPr lang="ko-KR" altLang="en-US" dirty="0"/>
              <a:t>복잡한 웹 기술 없이 간단한 코드로 웹 대시보드 제작 가능</a:t>
            </a:r>
            <a:endParaRPr lang="ko-KR" altLang="ko-KR" dirty="0"/>
          </a:p>
          <a:p>
            <a:pPr lvl="1"/>
            <a:r>
              <a:rPr lang="ko-KR" altLang="en-US" dirty="0"/>
              <a:t>데이터 분석 결과 시각화에 특화되어</a:t>
            </a:r>
            <a:r>
              <a:rPr lang="en-US" altLang="ko-KR" dirty="0"/>
              <a:t>,</a:t>
            </a:r>
            <a:r>
              <a:rPr lang="ko-KR" altLang="en-US" dirty="0"/>
              <a:t> 웹 형태로 쉽게 표현 및 공유 가능</a:t>
            </a:r>
            <a:endParaRPr lang="en-US" altLang="ko-KR" dirty="0"/>
          </a:p>
          <a:p>
            <a:pPr lvl="1"/>
            <a:r>
              <a:rPr lang="ko-KR" altLang="en-US" dirty="0"/>
              <a:t>오픈소스로 제공되며</a:t>
            </a:r>
            <a:r>
              <a:rPr lang="en-US" altLang="ko-KR" dirty="0"/>
              <a:t>, </a:t>
            </a:r>
            <a:r>
              <a:rPr lang="ko-KR" altLang="en-US" dirty="0"/>
              <a:t>데이터 과학 및 </a:t>
            </a:r>
            <a:r>
              <a:rPr lang="en-US" altLang="ko-KR" dirty="0"/>
              <a:t>AI </a:t>
            </a:r>
            <a:r>
              <a:rPr lang="ko-KR" altLang="en-US" dirty="0"/>
              <a:t>분야에서 널리 사용됨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49CB03-91E3-D42C-0D60-EC946D1B41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" altLang="ko-KR" dirty="0" err="1"/>
              <a:t>Streamlit</a:t>
            </a:r>
            <a:r>
              <a:rPr lang="en" altLang="ko-KR" dirty="0"/>
              <a:t> </a:t>
            </a:r>
            <a:r>
              <a:rPr lang="ko-KR" altLang="en-US" dirty="0"/>
              <a:t>소개</a:t>
            </a:r>
          </a:p>
        </p:txBody>
      </p:sp>
      <p:pic>
        <p:nvPicPr>
          <p:cNvPr id="4" name="Picture 2" descr="Streamlit logo on light background">
            <a:extLst>
              <a:ext uri="{FF2B5EF4-FFF2-40B4-BE49-F238E27FC236}">
                <a16:creationId xmlns:a16="http://schemas.microsoft.com/office/drawing/2014/main" id="{DF52BA64-72A5-0D57-77A9-D217DD5B7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7002" y="927100"/>
            <a:ext cx="2863870" cy="795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4865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D4E98-7F1E-EB19-A2FC-0565E831B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51810B4-558C-CF0A-3B17-51F6DA420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" altLang="ko-KR" dirty="0" err="1"/>
              <a:t>Streamlit</a:t>
            </a:r>
            <a:r>
              <a:rPr lang="ko-KR" altLang="en-US" dirty="0"/>
              <a:t> 의 필요성</a:t>
            </a:r>
          </a:p>
          <a:p>
            <a:pPr lvl="1" algn="just"/>
            <a:r>
              <a:rPr lang="ko-KR" altLang="en-US" dirty="0"/>
              <a:t>데이터 분석 결과의 효과적인 시각화 필요</a:t>
            </a:r>
          </a:p>
          <a:p>
            <a:pPr lvl="1" algn="just"/>
            <a:r>
              <a:rPr lang="ko-KR" altLang="en-US" dirty="0"/>
              <a:t>웹을 통한 효율적이고 상호작용 가능한 전달 방식</a:t>
            </a:r>
          </a:p>
          <a:p>
            <a:pPr lvl="1" algn="just"/>
            <a:r>
              <a:rPr lang="en-US" altLang="ko-KR" dirty="0"/>
              <a:t>Python </a:t>
            </a:r>
            <a:r>
              <a:rPr lang="ko-KR" altLang="en-US" dirty="0"/>
              <a:t>코드만으로 웹 대시보드의 표현 가능</a:t>
            </a:r>
          </a:p>
          <a:p>
            <a:pPr lvl="1"/>
            <a:r>
              <a:rPr lang="ko-KR" altLang="en-US" dirty="0"/>
              <a:t>추가적인 데이터 처리 없이 빠르고 간단하게 결과 공유 가능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A4033A-1E6E-F2F1-7EC6-5CB44FCFC0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" altLang="ko-KR" dirty="0" err="1"/>
              <a:t>Streamlit</a:t>
            </a:r>
            <a:r>
              <a:rPr lang="en" altLang="ko-KR" dirty="0"/>
              <a:t> </a:t>
            </a:r>
            <a:r>
              <a:rPr lang="ko-KR" altLang="en-US" dirty="0"/>
              <a:t>소개</a:t>
            </a:r>
          </a:p>
        </p:txBody>
      </p:sp>
    </p:spTree>
    <p:extLst>
      <p:ext uri="{BB962C8B-B14F-4D97-AF65-F5344CB8AC3E}">
        <p14:creationId xmlns:p14="http://schemas.microsoft.com/office/powerpoint/2010/main" val="804008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FACC1-D0F2-AE93-2BF6-F4826F500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23DDFB6-9CEC-A1F4-7088-0AC96EA83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 latinLnBrk="0"/>
            <a:r>
              <a:rPr lang="ko-KR" altLang="en-US" dirty="0"/>
              <a:t> </a:t>
            </a:r>
            <a:r>
              <a:rPr lang="en" altLang="ko-KR" dirty="0" err="1"/>
              <a:t>Streamlit</a:t>
            </a:r>
            <a:r>
              <a:rPr lang="ko-KR" altLang="en-US" dirty="0"/>
              <a:t>의 주요 기능</a:t>
            </a:r>
            <a:endParaRPr lang="ko-KR" altLang="ko-KR" dirty="0"/>
          </a:p>
          <a:p>
            <a:pPr lvl="1" algn="just" fontAlgn="base" latinLnBrk="0"/>
            <a:r>
              <a:rPr lang="ko-KR" altLang="en-US" dirty="0"/>
              <a:t>쉬운 </a:t>
            </a:r>
            <a:r>
              <a:rPr lang="en-US" altLang="ko-KR" dirty="0"/>
              <a:t>API</a:t>
            </a:r>
          </a:p>
          <a:p>
            <a:pPr lvl="2" algn="just" fontAlgn="base" latinLnBrk="0"/>
            <a:r>
              <a:rPr lang="en-US" altLang="ko-KR" dirty="0" err="1"/>
              <a:t>st.write</a:t>
            </a:r>
            <a:r>
              <a:rPr lang="en-US" altLang="ko-KR" dirty="0"/>
              <a:t>(),</a:t>
            </a:r>
            <a:r>
              <a:rPr lang="en-US" altLang="ko-KR" dirty="0" err="1"/>
              <a:t>st.dataframe</a:t>
            </a:r>
            <a:r>
              <a:rPr lang="en-US" altLang="ko-KR" dirty="0"/>
              <a:t>(),</a:t>
            </a:r>
            <a:r>
              <a:rPr lang="en-US" altLang="ko-KR" dirty="0" err="1"/>
              <a:t>st.line_chart</a:t>
            </a:r>
            <a:r>
              <a:rPr lang="en-US" altLang="ko-KR" dirty="0"/>
              <a:t>()</a:t>
            </a:r>
            <a:r>
              <a:rPr lang="ko-KR" altLang="en-US" dirty="0"/>
              <a:t> 등 쉽게 활용 가능</a:t>
            </a:r>
            <a:endParaRPr lang="ko-KR" altLang="ko-KR" dirty="0"/>
          </a:p>
          <a:p>
            <a:pPr lvl="1" algn="just" fontAlgn="base" latinLnBrk="0"/>
            <a:r>
              <a:rPr lang="en-US" altLang="ko-KR" dirty="0"/>
              <a:t>Interactive </a:t>
            </a:r>
            <a:r>
              <a:rPr lang="ko-KR" altLang="en-US" dirty="0"/>
              <a:t>위젯</a:t>
            </a:r>
            <a:endParaRPr lang="ko-KR" altLang="ko-KR" dirty="0"/>
          </a:p>
          <a:p>
            <a:pPr lvl="2" algn="just" fontAlgn="base" latinLnBrk="0"/>
            <a:r>
              <a:rPr lang="ko-KR" altLang="en-US" dirty="0"/>
              <a:t>체크박스</a:t>
            </a:r>
            <a:r>
              <a:rPr lang="en-US" altLang="ko-KR" dirty="0"/>
              <a:t>,</a:t>
            </a:r>
            <a:r>
              <a:rPr lang="ko-KR" altLang="en-US" dirty="0"/>
              <a:t> 버튼</a:t>
            </a:r>
            <a:r>
              <a:rPr lang="en-US" altLang="ko-KR" dirty="0"/>
              <a:t>,</a:t>
            </a:r>
            <a:r>
              <a:rPr lang="ko-KR" altLang="en-US" dirty="0"/>
              <a:t> 선택상자 등 사용자가 상호작용 가능한 기능 제공</a:t>
            </a:r>
            <a:endParaRPr lang="ko-KR" altLang="ko-KR" dirty="0"/>
          </a:p>
          <a:p>
            <a:pPr lvl="1" algn="just" fontAlgn="base" latinLnBrk="0"/>
            <a:r>
              <a:rPr lang="ko-KR" altLang="en-US" dirty="0"/>
              <a:t>다양한 시각화 요소</a:t>
            </a:r>
            <a:endParaRPr lang="en-US" altLang="ko-KR" dirty="0"/>
          </a:p>
          <a:p>
            <a:pPr lvl="2" algn="just" fontAlgn="base" latinLnBrk="0"/>
            <a:r>
              <a:rPr lang="ko-KR" altLang="en-US" dirty="0"/>
              <a:t>선형그래프</a:t>
            </a:r>
            <a:r>
              <a:rPr lang="en-US" altLang="ko-KR" dirty="0"/>
              <a:t>,</a:t>
            </a:r>
            <a:r>
              <a:rPr lang="ko-KR" altLang="en-US" dirty="0"/>
              <a:t> 막대그래프</a:t>
            </a:r>
            <a:r>
              <a:rPr lang="en-US" altLang="ko-KR" dirty="0"/>
              <a:t>,</a:t>
            </a:r>
            <a:r>
              <a:rPr lang="ko-KR" altLang="en-US" dirty="0"/>
              <a:t> 지도 등 기본 차트 및 </a:t>
            </a:r>
            <a:r>
              <a:rPr lang="en-US" altLang="ko-KR" dirty="0" err="1"/>
              <a:t>Plotly</a:t>
            </a:r>
            <a:r>
              <a:rPr lang="ko-KR" altLang="en-US" dirty="0"/>
              <a:t>나 </a:t>
            </a:r>
            <a:r>
              <a:rPr lang="en-US" altLang="ko-KR" dirty="0"/>
              <a:t>3D </a:t>
            </a:r>
            <a:r>
              <a:rPr lang="ko-KR" altLang="en-US" dirty="0"/>
              <a:t>시각화 연계 가능</a:t>
            </a:r>
            <a:endParaRPr lang="ko-KR" altLang="ko-KR" dirty="0"/>
          </a:p>
          <a:p>
            <a:pPr lvl="1" algn="just" fontAlgn="base" latinLnBrk="0"/>
            <a:r>
              <a:rPr lang="en-US" altLang="ko-KR" dirty="0" err="1"/>
              <a:t>Streamlit</a:t>
            </a:r>
            <a:r>
              <a:rPr lang="en-US" altLang="ko-KR" dirty="0"/>
              <a:t> Cloud</a:t>
            </a:r>
            <a:r>
              <a:rPr lang="ko-KR" altLang="en-US" dirty="0"/>
              <a:t> 배포</a:t>
            </a:r>
            <a:endParaRPr lang="en-US" altLang="ko-KR" dirty="0"/>
          </a:p>
          <a:p>
            <a:pPr lvl="2" algn="just" fontAlgn="base" latinLnBrk="0"/>
            <a:r>
              <a:rPr lang="en-US" altLang="ko-KR" dirty="0" err="1"/>
              <a:t>Github</a:t>
            </a:r>
            <a:r>
              <a:rPr lang="ko-KR" altLang="en-US" dirty="0"/>
              <a:t> 연동으로 배포 및 버전 관리</a:t>
            </a:r>
            <a:endParaRPr lang="ko-KR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E17094-F9A2-E203-B131-BA454D6F54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" altLang="ko-KR" dirty="0" err="1"/>
              <a:t>Streamlit</a:t>
            </a:r>
            <a:r>
              <a:rPr lang="en" altLang="ko-KR" dirty="0"/>
              <a:t> </a:t>
            </a:r>
            <a:r>
              <a:rPr lang="ko-KR" altLang="en-US" dirty="0"/>
              <a:t>소개</a:t>
            </a:r>
          </a:p>
        </p:txBody>
      </p:sp>
    </p:spTree>
    <p:extLst>
      <p:ext uri="{BB962C8B-B14F-4D97-AF65-F5344CB8AC3E}">
        <p14:creationId xmlns:p14="http://schemas.microsoft.com/office/powerpoint/2010/main" val="107513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2813B-72F0-40DC-AC6B-984457606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FBBC200-773B-60F6-2ECD-C2CB5BE85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 algn="just" fontAlgn="base" latinLnBrk="0"/>
            <a:r>
              <a:rPr lang="ko-KR" altLang="ko-KR" dirty="0"/>
              <a:t>설치</a:t>
            </a:r>
            <a:r>
              <a:rPr lang="en-US" altLang="ko-KR" dirty="0"/>
              <a:t>: </a:t>
            </a:r>
            <a:r>
              <a:rPr lang="ko-KR" altLang="ko-KR" dirty="0"/>
              <a:t>터미널 또는 명령 프롬프트에서 간단하게 설</a:t>
            </a:r>
            <a:r>
              <a:rPr lang="ko-KR" altLang="en-US" dirty="0"/>
              <a:t>치</a:t>
            </a:r>
            <a:endParaRPr lang="en-US" altLang="ko-KR" dirty="0"/>
          </a:p>
          <a:p>
            <a:pPr marL="800100" lvl="1" indent="-514350" algn="just" fontAlgn="base" latinLnBrk="0">
              <a:buFont typeface="+mj-lt"/>
              <a:buAutoNum type="arabicPeriod"/>
            </a:pPr>
            <a:r>
              <a:rPr lang="ko-KR" altLang="en-US" dirty="0"/>
              <a:t>작업 폴더 만들기</a:t>
            </a:r>
            <a:endParaRPr lang="en-US" altLang="ko-KR" dirty="0"/>
          </a:p>
          <a:p>
            <a:pPr marL="800100" lvl="1" indent="-514350" algn="just" fontAlgn="base" latinLnBrk="0">
              <a:buFont typeface="+mj-lt"/>
              <a:buAutoNum type="arabicPeriod"/>
            </a:pPr>
            <a:r>
              <a:rPr lang="ko-KR" altLang="en-US" dirty="0"/>
              <a:t>가상환경 생성</a:t>
            </a:r>
            <a:endParaRPr lang="en-US" altLang="ko-KR" dirty="0"/>
          </a:p>
          <a:p>
            <a:pPr marL="800100" lvl="1" indent="-514350" algn="just" fontAlgn="base" latinLnBrk="0">
              <a:buFont typeface="+mj-lt"/>
              <a:buAutoNum type="arabicPeriod"/>
            </a:pPr>
            <a:r>
              <a:rPr lang="en-US" altLang="ko-KR" dirty="0" err="1"/>
              <a:t>Streamlit</a:t>
            </a:r>
            <a:r>
              <a:rPr lang="en-US" altLang="ko-KR" dirty="0"/>
              <a:t> </a:t>
            </a:r>
            <a:r>
              <a:rPr lang="ko-KR" altLang="en-US" dirty="0"/>
              <a:t>설치</a:t>
            </a:r>
            <a:endParaRPr lang="en-US" altLang="ko-KR" dirty="0"/>
          </a:p>
          <a:p>
            <a:pPr marL="742950" lvl="2" indent="0" algn="just" fontAlgn="base" latinLnBrk="0">
              <a:buNone/>
            </a:pPr>
            <a:r>
              <a:rPr lang="en-US" altLang="ko-KR" dirty="0"/>
              <a:t>pip install </a:t>
            </a:r>
            <a:r>
              <a:rPr lang="en" altLang="ko-KR" dirty="0" err="1"/>
              <a:t>streamlit</a:t>
            </a:r>
            <a:endParaRPr lang="ko-KR" altLang="ko-KR" dirty="0"/>
          </a:p>
          <a:p>
            <a:pPr marL="800100" lvl="1" indent="-514350" algn="just" fontAlgn="base" latinLnBrk="0">
              <a:buFont typeface="+mj-lt"/>
              <a:buAutoNum type="arabicPeriod"/>
            </a:pPr>
            <a:r>
              <a:rPr lang="ko-KR" altLang="en-US" dirty="0"/>
              <a:t>설치 확인</a:t>
            </a:r>
            <a:endParaRPr lang="en-US" altLang="ko-KR" dirty="0"/>
          </a:p>
          <a:p>
            <a:pPr marL="742950" lvl="2" indent="0" algn="just" fontAlgn="base" latinLnBrk="0">
              <a:buNone/>
            </a:pPr>
            <a:r>
              <a:rPr lang="en-US" altLang="ko-KR" dirty="0" err="1"/>
              <a:t>streamlit</a:t>
            </a:r>
            <a:r>
              <a:rPr lang="en-US" altLang="ko-KR" dirty="0"/>
              <a:t> –version</a:t>
            </a:r>
          </a:p>
          <a:p>
            <a:pPr marL="800100" lvl="1" indent="-514350" algn="just" fontAlgn="base" latinLnBrk="0">
              <a:buFont typeface="+mj-lt"/>
              <a:buAutoNum type="arabicPeriod"/>
            </a:pPr>
            <a:r>
              <a:rPr lang="ko-KR" altLang="en-US" dirty="0"/>
              <a:t>데모 페이지 실행</a:t>
            </a:r>
            <a:endParaRPr lang="en-US" altLang="ko-KR" dirty="0"/>
          </a:p>
          <a:p>
            <a:pPr marL="742950" lvl="2" indent="0" algn="just" fontAlgn="base" latinLnBrk="0">
              <a:buNone/>
            </a:pPr>
            <a:r>
              <a:rPr lang="en" altLang="ko-KR" dirty="0" err="1"/>
              <a:t>streamlit</a:t>
            </a:r>
            <a:r>
              <a:rPr lang="en" altLang="ko-KR" dirty="0"/>
              <a:t> hello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A3E6A4-3AD5-FF4A-FAD9-83268EFBC4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설치 및 실행</a:t>
            </a:r>
          </a:p>
        </p:txBody>
      </p:sp>
    </p:spTree>
    <p:extLst>
      <p:ext uri="{BB962C8B-B14F-4D97-AF65-F5344CB8AC3E}">
        <p14:creationId xmlns:p14="http://schemas.microsoft.com/office/powerpoint/2010/main" val="3818044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B5770-6254-6C3F-772A-85DD0C32A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1FE961E-29D1-9F97-2265-3D21387AE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 fontAlgn="base" latinLnBrk="0"/>
            <a:r>
              <a:rPr lang="ko-KR" altLang="en-US" dirty="0"/>
              <a:t>가상환경 생성 및 실행 </a:t>
            </a:r>
            <a:r>
              <a:rPr lang="en-US" altLang="ko-KR" dirty="0"/>
              <a:t>(Windows</a:t>
            </a:r>
            <a:r>
              <a:rPr lang="ko-KR" altLang="en-US" dirty="0"/>
              <a:t> </a:t>
            </a:r>
            <a:r>
              <a:rPr lang="en-US" altLang="ko-KR" dirty="0"/>
              <a:t>/</a:t>
            </a:r>
            <a:r>
              <a:rPr lang="ko-KR" altLang="en-US" dirty="0"/>
              <a:t> </a:t>
            </a:r>
            <a:r>
              <a:rPr lang="en-US" altLang="ko-KR" dirty="0"/>
              <a:t>Mac)</a:t>
            </a:r>
          </a:p>
          <a:p>
            <a:pPr lvl="1" algn="just" fontAlgn="base" latinLnBrk="0"/>
            <a:r>
              <a:rPr lang="ko-KR" altLang="en-US" dirty="0"/>
              <a:t>가상환경은 패키지 외부 패키지 설치에 영향을 받지 않는 환경으로</a:t>
            </a:r>
            <a:r>
              <a:rPr lang="en-US" altLang="ko-KR" dirty="0"/>
              <a:t>,</a:t>
            </a:r>
            <a:r>
              <a:rPr lang="ko-KR" altLang="en-US" dirty="0"/>
              <a:t> 모든 패키지를 새로 설치해야 함</a:t>
            </a:r>
            <a:r>
              <a:rPr lang="en-US" altLang="ko-KR" dirty="0"/>
              <a:t>.</a:t>
            </a:r>
            <a:endParaRPr lang="en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071091-EB39-80B2-6B50-2975B97369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설치 및 실행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9FCA286-4854-101E-1E42-1EF9C07E70AE}"/>
              </a:ext>
            </a:extLst>
          </p:cNvPr>
          <p:cNvGraphicFramePr>
            <a:graphicFrameLocks noGrp="1"/>
          </p:cNvGraphicFramePr>
          <p:nvPr/>
        </p:nvGraphicFramePr>
        <p:xfrm>
          <a:off x="1690743" y="3431668"/>
          <a:ext cx="8810515" cy="3165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347">
                  <a:extLst>
                    <a:ext uri="{9D8B030D-6E8A-4147-A177-3AD203B41FA5}">
                      <a16:colId xmlns:a16="http://schemas.microsoft.com/office/drawing/2014/main" val="3847586046"/>
                    </a:ext>
                  </a:extLst>
                </a:gridCol>
                <a:gridCol w="3458584">
                  <a:extLst>
                    <a:ext uri="{9D8B030D-6E8A-4147-A177-3AD203B41FA5}">
                      <a16:colId xmlns:a16="http://schemas.microsoft.com/office/drawing/2014/main" val="1663577472"/>
                    </a:ext>
                  </a:extLst>
                </a:gridCol>
                <a:gridCol w="3458584">
                  <a:extLst>
                    <a:ext uri="{9D8B030D-6E8A-4147-A177-3AD203B41FA5}">
                      <a16:colId xmlns:a16="http://schemas.microsoft.com/office/drawing/2014/main" val="3089972910"/>
                    </a:ext>
                  </a:extLst>
                </a:gridCol>
              </a:tblGrid>
              <a:tr h="3508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 b="1" dirty="0"/>
                        <a:t>구분</a:t>
                      </a:r>
                      <a:endParaRPr lang="ko-KR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Windows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macOS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902023"/>
                  </a:ext>
                </a:extLst>
              </a:tr>
              <a:tr h="3508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 b="1" dirty="0"/>
                        <a:t>폴더 이동</a:t>
                      </a:r>
                      <a:endParaRPr lang="ko-KR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cd C:\</a:t>
                      </a:r>
                      <a:r>
                        <a:rPr lang="en-US" sz="2400" dirty="0" err="1"/>
                        <a:t>streamlit_test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cd ~/streamlit_test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6787198"/>
                  </a:ext>
                </a:extLst>
              </a:tr>
              <a:tr h="6056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 b="1" dirty="0"/>
                        <a:t>가상환경</a:t>
                      </a:r>
                      <a:endParaRPr lang="en-US" altLang="ko-KR" sz="2400" b="1" dirty="0"/>
                    </a:p>
                    <a:p>
                      <a:pPr algn="ctr">
                        <a:buNone/>
                      </a:pPr>
                      <a:r>
                        <a:rPr lang="ko-KR" altLang="en-US" sz="2400" b="1" dirty="0"/>
                        <a:t>생성</a:t>
                      </a:r>
                      <a:endParaRPr lang="ko-KR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python -m </a:t>
                      </a:r>
                      <a:r>
                        <a:rPr lang="en-US" sz="2400" dirty="0" err="1"/>
                        <a:t>venv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venv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python3 -m </a:t>
                      </a:r>
                      <a:r>
                        <a:rPr lang="en-US" sz="2400" dirty="0" err="1"/>
                        <a:t>venv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venv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1390505"/>
                  </a:ext>
                </a:extLst>
              </a:tr>
              <a:tr h="6056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 b="1" dirty="0"/>
                        <a:t>가상환경</a:t>
                      </a:r>
                      <a:endParaRPr lang="en-US" altLang="ko-KR" sz="2400" b="1" dirty="0"/>
                    </a:p>
                    <a:p>
                      <a:pPr algn="ctr">
                        <a:buNone/>
                      </a:pPr>
                      <a:r>
                        <a:rPr lang="ko-KR" altLang="en-US" sz="2400" b="1" dirty="0"/>
                        <a:t>활성화</a:t>
                      </a:r>
                      <a:endParaRPr lang="ko-KR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/>
                        <a:t>venv</a:t>
                      </a:r>
                      <a:r>
                        <a:rPr lang="en-US" sz="2400" dirty="0"/>
                        <a:t>\Scripts\activate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source </a:t>
                      </a:r>
                      <a:r>
                        <a:rPr lang="en-US" sz="2400" dirty="0" err="1"/>
                        <a:t>venv</a:t>
                      </a:r>
                      <a:r>
                        <a:rPr lang="en-US" sz="2400" dirty="0"/>
                        <a:t>/bin/activate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255891"/>
                  </a:ext>
                </a:extLst>
              </a:tr>
              <a:tr h="6056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/>
                        <a:t>Python </a:t>
                      </a:r>
                      <a:r>
                        <a:rPr lang="ko-KR" altLang="en-US" sz="2400" b="1" dirty="0"/>
                        <a:t>실행</a:t>
                      </a:r>
                      <a:endParaRPr lang="ko-KR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python3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90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079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84E2D-928A-7FD3-532F-09B1AC230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6749326-17D4-76AD-C79C-47877C8B8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 fontAlgn="base" latinLnBrk="0"/>
            <a:r>
              <a:rPr lang="ko-KR" altLang="en-US" dirty="0"/>
              <a:t>가상환경 생성 및 실행 </a:t>
            </a:r>
            <a:endParaRPr lang="en-US" altLang="ko-KR" dirty="0"/>
          </a:p>
          <a:p>
            <a:pPr marL="285750" lvl="1" indent="0" algn="just" fontAlgn="base" latinLnBrk="0">
              <a:buNone/>
            </a:pPr>
            <a:r>
              <a:rPr lang="en-US" altLang="ko-KR" dirty="0"/>
              <a:t>1.</a:t>
            </a:r>
            <a:r>
              <a:rPr lang="ko-KR" altLang="en-US" dirty="0"/>
              <a:t> 윈도우 검색창에서 명령 프롬프트 </a:t>
            </a:r>
            <a:r>
              <a:rPr lang="ko-KR" altLang="en-US" dirty="0" err="1"/>
              <a:t>우클릭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관리자 권한으로 실행</a:t>
            </a:r>
            <a:endParaRPr lang="en-US" altLang="ko-KR" dirty="0"/>
          </a:p>
          <a:p>
            <a:pPr marL="800100" lvl="1" indent="-514350" algn="just" fontAlgn="base" latinLnBrk="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38A1D2-0348-5CB3-7EF0-C6234D8BC7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설치 및 실행</a:t>
            </a:r>
          </a:p>
        </p:txBody>
      </p:sp>
      <p:pic>
        <p:nvPicPr>
          <p:cNvPr id="5" name="그림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F09A55-753C-03EB-76FD-DC7EEA619C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8807" y="2924082"/>
            <a:ext cx="4525999" cy="3933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082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A3DC9-5264-38CB-9698-72BAD5CA8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65593D7-03D1-4C14-73DA-13AB16012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 fontAlgn="base" latinLnBrk="0"/>
            <a:r>
              <a:rPr lang="ko-KR" altLang="en-US" dirty="0"/>
              <a:t>가상환경 생성 및 실행 </a:t>
            </a:r>
            <a:endParaRPr lang="en-US" altLang="ko-KR" dirty="0"/>
          </a:p>
          <a:p>
            <a:pPr marL="285750" lvl="1" indent="0" algn="just" fontAlgn="base" latinLnBrk="0">
              <a:buNone/>
            </a:pPr>
            <a:r>
              <a:rPr lang="en-US" altLang="ko-KR" dirty="0"/>
              <a:t>2.</a:t>
            </a:r>
            <a:r>
              <a:rPr lang="ko-KR" altLang="en-US" dirty="0"/>
              <a:t> 파일을 만든 폴더에 진입 </a:t>
            </a:r>
            <a:endParaRPr lang="en-US" altLang="ko-KR" dirty="0"/>
          </a:p>
          <a:p>
            <a:pPr marL="285750" lvl="1" indent="0" algn="just" fontAlgn="base" latinLnBrk="0">
              <a:buNone/>
            </a:pPr>
            <a:r>
              <a:rPr lang="en-US" altLang="ko-KR" dirty="0"/>
              <a:t>(ex cd C:\Users\</a:t>
            </a:r>
            <a:r>
              <a:rPr lang="en-US" altLang="ko-KR" dirty="0" err="1"/>
              <a:t>hufs</a:t>
            </a:r>
            <a:r>
              <a:rPr lang="en-US" altLang="ko-KR" dirty="0"/>
              <a:t>\</a:t>
            </a:r>
            <a:r>
              <a:rPr lang="en-US" altLang="ko-KR" dirty="0" err="1"/>
              <a:t>streamlit</a:t>
            </a:r>
            <a:r>
              <a:rPr lang="en-US" altLang="ko-KR" dirty="0"/>
              <a:t>)</a:t>
            </a:r>
          </a:p>
          <a:p>
            <a:pPr marL="800100" lvl="1" indent="-514350" algn="just" fontAlgn="base" latinLnBrk="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290986-D933-47FF-15C5-2B7EFCD5D4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설치 및 실행</a:t>
            </a:r>
          </a:p>
        </p:txBody>
      </p:sp>
      <p:pic>
        <p:nvPicPr>
          <p:cNvPr id="5" name="그림 4" descr="텍스트, 스크린샷, 컴퓨터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610E6FF-CAD6-9CDD-6B23-5FCE521640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458" y="3118362"/>
            <a:ext cx="6719085" cy="347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053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B9FBB-33D9-C71E-EDC2-7EA9843F0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B59A924-C0A8-2807-D19F-BE95C86C4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 fontAlgn="base" latinLnBrk="0"/>
            <a:r>
              <a:rPr lang="ko-KR" altLang="en-US" dirty="0"/>
              <a:t>가상환경 생성 및 실행 </a:t>
            </a:r>
            <a:endParaRPr lang="en-US" altLang="ko-KR" dirty="0"/>
          </a:p>
          <a:p>
            <a:pPr marL="285750" lvl="1" indent="0" algn="just" fontAlgn="base" latinLnBrk="0">
              <a:buNone/>
            </a:pPr>
            <a:r>
              <a:rPr lang="en-US" altLang="ko-KR" dirty="0"/>
              <a:t>3.</a:t>
            </a:r>
            <a:r>
              <a:rPr lang="ko-KR" altLang="en-US" dirty="0"/>
              <a:t> 가상환경 생성</a:t>
            </a:r>
            <a:endParaRPr lang="en-US" altLang="ko-KR" dirty="0"/>
          </a:p>
          <a:p>
            <a:pPr marL="285750" lvl="1" indent="0" algn="just" fontAlgn="base" latinLnBrk="0">
              <a:buNone/>
            </a:pPr>
            <a:r>
              <a:rPr lang="en-US" altLang="ko-KR" dirty="0"/>
              <a:t>python –m </a:t>
            </a:r>
            <a:r>
              <a:rPr lang="en-US" altLang="ko-KR" dirty="0" err="1"/>
              <a:t>venv</a:t>
            </a:r>
            <a:r>
              <a:rPr lang="en-US" altLang="ko-KR" dirty="0"/>
              <a:t> </a:t>
            </a:r>
            <a:r>
              <a:rPr lang="en-US" altLang="ko-KR" dirty="0" err="1"/>
              <a:t>venv</a:t>
            </a:r>
            <a:endParaRPr lang="en-US" altLang="ko-KR" dirty="0"/>
          </a:p>
          <a:p>
            <a:pPr marL="285750" lvl="1" indent="0" algn="just" fontAlgn="base" latinLnBrk="0">
              <a:buNone/>
            </a:pPr>
            <a:r>
              <a:rPr lang="ko-KR" altLang="en-US" dirty="0"/>
              <a:t>해당 폴더 내부에 </a:t>
            </a:r>
            <a:r>
              <a:rPr lang="en-US" altLang="ko-KR" dirty="0" err="1"/>
              <a:t>venv</a:t>
            </a:r>
            <a:r>
              <a:rPr lang="ko-KR" altLang="en-US" dirty="0"/>
              <a:t> 폴더 생성</a:t>
            </a:r>
            <a:endParaRPr lang="en-US" altLang="ko-KR" dirty="0"/>
          </a:p>
          <a:p>
            <a:pPr marL="800100" lvl="1" indent="-514350" algn="just" fontAlgn="base" latinLnBrk="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7CFC28-5D80-094B-835B-C28FFF7B28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설치 및 실행</a:t>
            </a:r>
          </a:p>
        </p:txBody>
      </p:sp>
      <p:pic>
        <p:nvPicPr>
          <p:cNvPr id="5" name="그림 4" descr="스크린샷, 산, 텍스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284FFE-D37B-D515-53FD-B626FC0F2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6565" y="3662966"/>
            <a:ext cx="5812940" cy="319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522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60C9B-1AAA-7DF4-2808-6A24CE117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6A331DC-6A63-B5EC-4908-4BE0F0346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 fontAlgn="base" latinLnBrk="0"/>
            <a:r>
              <a:rPr lang="ko-KR" altLang="en-US" dirty="0"/>
              <a:t>가상환경 생성 및 실행 </a:t>
            </a:r>
            <a:endParaRPr lang="en-US" altLang="ko-KR" dirty="0"/>
          </a:p>
          <a:p>
            <a:pPr marL="285750" lvl="1" indent="0" algn="just" fontAlgn="base" latinLnBrk="0">
              <a:buNone/>
            </a:pPr>
            <a:r>
              <a:rPr lang="en-US" altLang="ko-KR" dirty="0"/>
              <a:t>4.</a:t>
            </a:r>
            <a:r>
              <a:rPr lang="ko-KR" altLang="en-US" dirty="0"/>
              <a:t> 가상환경 실행</a:t>
            </a:r>
            <a:endParaRPr lang="en-US" altLang="ko-KR" dirty="0"/>
          </a:p>
          <a:p>
            <a:pPr marL="285750" lvl="1" indent="0" fontAlgn="base" latinLnBrk="0">
              <a:buNone/>
            </a:pPr>
            <a:r>
              <a:rPr lang="en-US" altLang="ko-KR" dirty="0" err="1"/>
              <a:t>venv</a:t>
            </a:r>
            <a:r>
              <a:rPr lang="en-US" altLang="ko-KR" dirty="0"/>
              <a:t>\Scripts\activate</a:t>
            </a:r>
            <a:r>
              <a:rPr lang="ko-KR" altLang="en-US" dirty="0"/>
              <a:t> 혹은 </a:t>
            </a:r>
            <a:r>
              <a:rPr lang="en-US" altLang="ko-KR" dirty="0"/>
              <a:t>C:\Users\</a:t>
            </a:r>
            <a:r>
              <a:rPr lang="en-US" altLang="ko-KR" dirty="0" err="1"/>
              <a:t>hufs</a:t>
            </a:r>
            <a:r>
              <a:rPr lang="en-US" altLang="ko-KR" dirty="0"/>
              <a:t>\</a:t>
            </a:r>
            <a:r>
              <a:rPr lang="en-US" altLang="ko-KR" dirty="0" err="1"/>
              <a:t>streamlit</a:t>
            </a:r>
            <a:r>
              <a:rPr lang="en-US" altLang="ko-KR" dirty="0"/>
              <a:t>\</a:t>
            </a:r>
            <a:r>
              <a:rPr lang="en-US" altLang="ko-KR" dirty="0" err="1"/>
              <a:t>venv</a:t>
            </a:r>
            <a:r>
              <a:rPr lang="en-US" altLang="ko-KR" dirty="0"/>
              <a:t>\Scripts\activate</a:t>
            </a:r>
          </a:p>
          <a:p>
            <a:pPr marL="285750" lvl="1" indent="0" fontAlgn="base" latinLnBrk="0">
              <a:buNone/>
            </a:pPr>
            <a:r>
              <a:rPr lang="ko-KR" altLang="en-US" dirty="0" err="1"/>
              <a:t>명령줄</a:t>
            </a:r>
            <a:r>
              <a:rPr lang="ko-KR" altLang="en-US" dirty="0"/>
              <a:t> 앞에 </a:t>
            </a:r>
            <a:r>
              <a:rPr lang="en-US" altLang="ko-KR" dirty="0"/>
              <a:t>(</a:t>
            </a:r>
            <a:r>
              <a:rPr lang="en-US" altLang="ko-KR" dirty="0" err="1"/>
              <a:t>venv</a:t>
            </a:r>
            <a:r>
              <a:rPr lang="en-US" altLang="ko-KR" dirty="0"/>
              <a:t>) </a:t>
            </a:r>
            <a:r>
              <a:rPr lang="ko-KR" altLang="en-US" dirty="0"/>
              <a:t>표시가 생기면 성공</a:t>
            </a:r>
            <a:endParaRPr lang="en-US" altLang="ko-KR" dirty="0"/>
          </a:p>
          <a:p>
            <a:pPr marL="285750" lvl="1" indent="0" algn="just" fontAlgn="base" latinLnBrk="0">
              <a:buNone/>
            </a:pPr>
            <a:endParaRPr lang="en-US" altLang="ko-KR" dirty="0"/>
          </a:p>
          <a:p>
            <a:pPr marL="285750" lvl="1" indent="0" algn="just" fontAlgn="base" latinLnBrk="0">
              <a:buNone/>
            </a:pPr>
            <a:endParaRPr lang="en-US" altLang="ko-KR" dirty="0"/>
          </a:p>
          <a:p>
            <a:pPr marL="800100" lvl="1" indent="-514350" algn="just" fontAlgn="base" latinLnBrk="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F04A94-6097-5A16-1077-7BED6EB00D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설치 및 실행</a:t>
            </a:r>
          </a:p>
        </p:txBody>
      </p:sp>
      <p:pic>
        <p:nvPicPr>
          <p:cNvPr id="5" name="그림 4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78B041E-5C94-B277-59DA-6AAC42D003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447"/>
          <a:stretch>
            <a:fillRect/>
          </a:stretch>
        </p:blipFill>
        <p:spPr>
          <a:xfrm>
            <a:off x="2359307" y="5292762"/>
            <a:ext cx="8041566" cy="97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725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0182C-7A21-903D-076D-7EB1DAC33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BD1F957-6AD8-748A-447C-FF1B51F20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 fontAlgn="base" latinLnBrk="0"/>
            <a:r>
              <a:rPr lang="ko-KR" altLang="en-US" dirty="0"/>
              <a:t>가상환경 생성 및 실행 </a:t>
            </a:r>
            <a:endParaRPr lang="en-US" altLang="ko-KR" dirty="0"/>
          </a:p>
          <a:p>
            <a:pPr marL="285750" lvl="1" indent="0" algn="just" fontAlgn="base" latinLnBrk="0">
              <a:buNone/>
            </a:pPr>
            <a:r>
              <a:rPr lang="en-US" altLang="ko-KR" dirty="0"/>
              <a:t>4.</a:t>
            </a:r>
            <a:r>
              <a:rPr lang="ko-KR" altLang="en-US" dirty="0"/>
              <a:t> 가상환경 실행</a:t>
            </a:r>
            <a:r>
              <a:rPr lang="en-US" altLang="ko-KR" dirty="0"/>
              <a:t> (MacOS)</a:t>
            </a:r>
          </a:p>
          <a:p>
            <a:pPr marL="285750" lvl="1" indent="0" fontAlgn="base" latinLnBrk="0">
              <a:buNone/>
            </a:pPr>
            <a:r>
              <a:rPr lang="en-US" altLang="ko-KR" dirty="0"/>
              <a:t>source </a:t>
            </a:r>
            <a:r>
              <a:rPr lang="en-US" altLang="ko-KR" dirty="0" err="1"/>
              <a:t>venv</a:t>
            </a:r>
            <a:r>
              <a:rPr lang="en-US" altLang="ko-KR" dirty="0"/>
              <a:t>/bin/activate</a:t>
            </a:r>
          </a:p>
          <a:p>
            <a:pPr marL="285750" lvl="1" indent="0" fontAlgn="base" latinLnBrk="0">
              <a:buNone/>
            </a:pPr>
            <a:r>
              <a:rPr lang="ko-KR" altLang="en-US" dirty="0" err="1"/>
              <a:t>명령줄</a:t>
            </a:r>
            <a:r>
              <a:rPr lang="ko-KR" altLang="en-US" dirty="0"/>
              <a:t> 앞에 </a:t>
            </a:r>
            <a:r>
              <a:rPr lang="en-US" altLang="ko-KR" dirty="0"/>
              <a:t>(</a:t>
            </a:r>
            <a:r>
              <a:rPr lang="en-US" altLang="ko-KR" dirty="0" err="1"/>
              <a:t>venv</a:t>
            </a:r>
            <a:r>
              <a:rPr lang="en-US" altLang="ko-KR" dirty="0"/>
              <a:t>) </a:t>
            </a:r>
            <a:r>
              <a:rPr lang="ko-KR" altLang="en-US" dirty="0"/>
              <a:t>표시가 생기면 성공</a:t>
            </a:r>
            <a:endParaRPr lang="en-US" altLang="ko-KR" dirty="0"/>
          </a:p>
          <a:p>
            <a:pPr marL="285750" lvl="1" indent="0" algn="just" fontAlgn="base" latinLnBrk="0">
              <a:buNone/>
            </a:pPr>
            <a:endParaRPr lang="en-US" altLang="ko-KR" dirty="0"/>
          </a:p>
          <a:p>
            <a:pPr marL="285750" lvl="1" indent="0" algn="just" fontAlgn="base" latinLnBrk="0">
              <a:buNone/>
            </a:pPr>
            <a:endParaRPr lang="en-US" altLang="ko-KR" dirty="0"/>
          </a:p>
          <a:p>
            <a:pPr marL="800100" lvl="1" indent="-514350" algn="just" fontAlgn="base" latinLnBrk="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3D09CA-D647-A9DD-B14F-D073F2DB9C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설치 및 실행</a:t>
            </a:r>
          </a:p>
        </p:txBody>
      </p:sp>
      <p:pic>
        <p:nvPicPr>
          <p:cNvPr id="5" name="그림 4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C0A90B-D2B2-7BB7-3B42-C187C54A12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447"/>
          <a:stretch>
            <a:fillRect/>
          </a:stretch>
        </p:blipFill>
        <p:spPr>
          <a:xfrm>
            <a:off x="2264485" y="4098664"/>
            <a:ext cx="8041566" cy="97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819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C5038-D313-ADD7-1792-E87B9A436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18E8BDD-DD34-7F1E-6550-A31E88C52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 fontAlgn="base" latinLnBrk="0"/>
            <a:r>
              <a:rPr lang="en-US" altLang="ko-KR" dirty="0" err="1"/>
              <a:t>Streamlit</a:t>
            </a:r>
            <a:r>
              <a:rPr lang="en-US" altLang="ko-KR" dirty="0"/>
              <a:t> </a:t>
            </a:r>
            <a:r>
              <a:rPr lang="ko-KR" altLang="en-US" dirty="0"/>
              <a:t>설치 및 확인</a:t>
            </a:r>
            <a:endParaRPr lang="en-US" altLang="ko-KR" dirty="0"/>
          </a:p>
          <a:p>
            <a:pPr lvl="1" algn="just" fontAlgn="base" latinLnBrk="0"/>
            <a:r>
              <a:rPr lang="en-US" altLang="ko-KR" dirty="0"/>
              <a:t>pip install </a:t>
            </a:r>
            <a:r>
              <a:rPr lang="en" altLang="ko-KR" dirty="0" err="1"/>
              <a:t>streamlit</a:t>
            </a:r>
            <a:endParaRPr lang="ko-KR" altLang="ko-KR" dirty="0"/>
          </a:p>
          <a:p>
            <a:pPr lvl="1" algn="just" fontAlgn="base" latinLnBrk="0"/>
            <a:endParaRPr lang="en-US" altLang="ko-KR" dirty="0"/>
          </a:p>
          <a:p>
            <a:pPr lvl="1" algn="just" fontAlgn="base" latinLnBrk="0"/>
            <a:endParaRPr lang="en-US" altLang="ko-KR" dirty="0"/>
          </a:p>
          <a:p>
            <a:pPr lvl="1" algn="just" fontAlgn="base" latinLnBrk="0"/>
            <a:endParaRPr lang="en-US" altLang="ko-KR" dirty="0"/>
          </a:p>
          <a:p>
            <a:pPr lvl="1" algn="just" fontAlgn="base" latinLnBrk="0"/>
            <a:r>
              <a:rPr lang="en-US" altLang="ko-KR" dirty="0" err="1"/>
              <a:t>streamlit</a:t>
            </a:r>
            <a:r>
              <a:rPr lang="en-US" altLang="ko-KR" dirty="0"/>
              <a:t> --version (‘-’ 2</a:t>
            </a:r>
            <a:r>
              <a:rPr lang="ko-KR" altLang="en-US" dirty="0"/>
              <a:t>개</a:t>
            </a:r>
            <a:r>
              <a:rPr lang="en-US" altLang="ko-KR" dirty="0"/>
              <a:t>)</a:t>
            </a:r>
            <a:endParaRPr lang="ko-KR" altLang="ko-KR" dirty="0"/>
          </a:p>
          <a:p>
            <a:pPr lvl="1" algn="just" fontAlgn="base" latinLnBrk="0"/>
            <a:endParaRPr lang="en-US" altLang="ko-KR" dirty="0"/>
          </a:p>
          <a:p>
            <a:pPr lvl="1" algn="just" fontAlgn="base" latinLnBrk="0"/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019E4F-A1E3-775F-F4A2-D99249B534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설치 및 실행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527FA57-E184-D5B1-80FB-34B572DC1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976" y="5375686"/>
            <a:ext cx="7772400" cy="882455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B03A0304-8AF1-9278-BCBF-CC5353A6A833}"/>
              </a:ext>
            </a:extLst>
          </p:cNvPr>
          <p:cNvGrpSpPr/>
          <p:nvPr/>
        </p:nvGrpSpPr>
        <p:grpSpPr>
          <a:xfrm>
            <a:off x="1885950" y="2286652"/>
            <a:ext cx="7924427" cy="2241664"/>
            <a:chOff x="0" y="2061393"/>
            <a:chExt cx="5890752" cy="1666378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DFB9630-FF3A-7AFF-BD44-DDF6AEDC9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4209"/>
            <a:stretch>
              <a:fillRect/>
            </a:stretch>
          </p:blipFill>
          <p:spPr>
            <a:xfrm>
              <a:off x="0" y="2924499"/>
              <a:ext cx="5890752" cy="803272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E4E4AAA-23DA-E33A-DA09-A605F03CF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4209"/>
            <a:stretch>
              <a:fillRect/>
            </a:stretch>
          </p:blipFill>
          <p:spPr>
            <a:xfrm>
              <a:off x="0" y="2061393"/>
              <a:ext cx="5890752" cy="8950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9874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72C3B-D6D8-4B5E-3767-CD375EBB1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6F60562-8FB0-48AB-A244-AD6C4C785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 fontAlgn="base" latinLnBrk="0"/>
            <a:r>
              <a:rPr lang="en-US" altLang="ko-KR" dirty="0"/>
              <a:t>Python </a:t>
            </a:r>
            <a:r>
              <a:rPr lang="ko-KR" altLang="en-US" dirty="0"/>
              <a:t>설치가 안되어 있을 때</a:t>
            </a:r>
            <a:endParaRPr lang="en-US" altLang="ko-KR" dirty="0"/>
          </a:p>
          <a:p>
            <a:pPr lvl="1" algn="just" fontAlgn="base" latinLnBrk="0"/>
            <a:r>
              <a:rPr lang="en-US" altLang="ko-KR" dirty="0">
                <a:hlinkClick r:id="rId2"/>
              </a:rPr>
              <a:t>https://www.python.org/</a:t>
            </a:r>
            <a:r>
              <a:rPr lang="ko-KR" altLang="en-US" dirty="0"/>
              <a:t> 접속 후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3.12</a:t>
            </a:r>
            <a:r>
              <a:rPr lang="ko-KR" altLang="en-US" dirty="0"/>
              <a:t> 검색</a:t>
            </a:r>
            <a:endParaRPr lang="en-US" altLang="ko-KR" dirty="0"/>
          </a:p>
          <a:p>
            <a:pPr lvl="1" algn="just" fontAlgn="base" latinLnBrk="0"/>
            <a:endParaRPr lang="en-US" altLang="ko-KR" dirty="0"/>
          </a:p>
          <a:p>
            <a:pPr lvl="1" algn="just" fontAlgn="base" latinLnBrk="0"/>
            <a:endParaRPr lang="en-US" altLang="ko-KR" dirty="0"/>
          </a:p>
          <a:p>
            <a:pPr lvl="1" algn="just" fontAlgn="base" latinLnBrk="0"/>
            <a:r>
              <a:rPr lang="en-US" altLang="ko-KR" dirty="0"/>
              <a:t>3.12.10</a:t>
            </a:r>
            <a:r>
              <a:rPr lang="ko-KR" altLang="en-US" dirty="0"/>
              <a:t> 버전 선택 후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OS</a:t>
            </a:r>
            <a:r>
              <a:rPr lang="ko-KR" altLang="en-US" dirty="0" err="1"/>
              <a:t>에</a:t>
            </a:r>
            <a:r>
              <a:rPr lang="ko-KR" altLang="en-US" dirty="0"/>
              <a:t> 맞는 버전 다운로드</a:t>
            </a:r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69C7B3-E599-DAD4-CBD1-DEE840EFB8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설치 및 실행</a:t>
            </a:r>
          </a:p>
        </p:txBody>
      </p:sp>
      <p:pic>
        <p:nvPicPr>
          <p:cNvPr id="7" name="그림 6" descr="텍스트, 스크린샷, 멀티미디어 소프트웨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B306A9A-358D-B7E2-DD9B-0B7BF6F4B1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0560" y="2336800"/>
            <a:ext cx="7505700" cy="1092200"/>
          </a:xfrm>
          <a:prstGeom prst="rect">
            <a:avLst/>
          </a:prstGeom>
        </p:spPr>
      </p:pic>
      <p:pic>
        <p:nvPicPr>
          <p:cNvPr id="11" name="그림 10" descr="텍스트, 스크린샷, 대수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B0462C-F8FC-4097-F16D-D2CB87991A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950" y="4491467"/>
            <a:ext cx="7404100" cy="17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107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5E7FC-7757-CE2E-09A8-F79EED48B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605C9C0-D85A-CC33-D349-8BE5AF0F0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latinLnBrk="0"/>
            <a:r>
              <a:rPr lang="ko-KR" altLang="en-US" dirty="0"/>
              <a:t>명령어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 err="1"/>
              <a:t>streamlit</a:t>
            </a:r>
            <a:r>
              <a:rPr lang="en-US" altLang="ko-KR" dirty="0"/>
              <a:t> hello</a:t>
            </a:r>
          </a:p>
          <a:p>
            <a:pPr lvl="1" algn="just" latinLnBrk="0"/>
            <a:r>
              <a:rPr lang="ko-KR" altLang="en-US" dirty="0"/>
              <a:t>접속 링크</a:t>
            </a:r>
            <a:r>
              <a:rPr lang="en-US" altLang="ko-KR" dirty="0"/>
              <a:t>: localhost:8501</a:t>
            </a:r>
            <a:endParaRPr lang="ko-KR" altLang="ko-KR" dirty="0"/>
          </a:p>
          <a:p>
            <a:pPr lvl="0" algn="just" fontAlgn="base" latinLnBrk="0"/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DACE73-48CA-868C-A69E-236B0096EB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3.</a:t>
            </a:r>
            <a:r>
              <a:rPr lang="ko-KR" altLang="en-US" dirty="0"/>
              <a:t> 데모 페이지 탐색</a:t>
            </a:r>
          </a:p>
        </p:txBody>
      </p:sp>
      <p:pic>
        <p:nvPicPr>
          <p:cNvPr id="5" name="그림 4" descr="텍스트, 스크린샷, 소프트웨어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BBA3113-4232-C77E-CBEA-C54F535697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450" y="2529228"/>
            <a:ext cx="6445101" cy="417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4879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AB11D-43B4-E2B8-FDEE-99D68BD6C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AE8AA04-A92B-9F80-47F1-9BD2B3B48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latinLnBrk="0"/>
            <a:r>
              <a:rPr lang="en-US" altLang="ko-KR" dirty="0" err="1"/>
              <a:t>Streamlit</a:t>
            </a:r>
            <a:r>
              <a:rPr lang="en-US" altLang="ko-KR" dirty="0"/>
              <a:t> </a:t>
            </a:r>
            <a:r>
              <a:rPr lang="ko-KR" altLang="en-US" dirty="0"/>
              <a:t>데모 페이지</a:t>
            </a:r>
            <a:endParaRPr lang="en-US" altLang="ko-KR" dirty="0"/>
          </a:p>
          <a:p>
            <a:pPr lvl="1" algn="just" latinLnBrk="0"/>
            <a:r>
              <a:rPr lang="en-US" altLang="ko-KR" dirty="0"/>
              <a:t>Hello: </a:t>
            </a:r>
            <a:r>
              <a:rPr lang="ko-KR" altLang="en-US" dirty="0"/>
              <a:t>기본 페이지</a:t>
            </a:r>
            <a:endParaRPr lang="en-US" altLang="ko-KR" dirty="0"/>
          </a:p>
          <a:p>
            <a:pPr lvl="1" algn="just" latinLnBrk="0"/>
            <a:r>
              <a:rPr lang="en-US" altLang="ko-KR" dirty="0" err="1"/>
              <a:t>Dataframe_demo</a:t>
            </a:r>
            <a:r>
              <a:rPr lang="en-US" altLang="ko-KR" dirty="0"/>
              <a:t>: </a:t>
            </a:r>
            <a:r>
              <a:rPr lang="ko-KR" altLang="en-US" dirty="0"/>
              <a:t>표 및 기본 그래프</a:t>
            </a:r>
            <a:endParaRPr lang="en-US" altLang="ko-KR" dirty="0"/>
          </a:p>
          <a:p>
            <a:pPr lvl="1" algn="just" latinLnBrk="0"/>
            <a:r>
              <a:rPr lang="en-US" altLang="ko-KR" dirty="0" err="1"/>
              <a:t>Plotting_demo</a:t>
            </a:r>
            <a:r>
              <a:rPr lang="en-US" altLang="ko-KR" dirty="0"/>
              <a:t>:</a:t>
            </a:r>
            <a:r>
              <a:rPr lang="ko-KR" altLang="en-US" dirty="0"/>
              <a:t> 선형 그래프 및 시각화</a:t>
            </a:r>
            <a:endParaRPr lang="en-US" altLang="ko-KR" dirty="0"/>
          </a:p>
          <a:p>
            <a:pPr lvl="1" algn="just" latinLnBrk="0"/>
            <a:r>
              <a:rPr lang="en-US" altLang="ko-KR" dirty="0" err="1"/>
              <a:t>Mapping_demo</a:t>
            </a:r>
            <a:r>
              <a:rPr lang="en-US" altLang="ko-KR" dirty="0"/>
              <a:t>:</a:t>
            </a:r>
            <a:r>
              <a:rPr lang="ko-KR" altLang="en-US" dirty="0"/>
              <a:t> 좌표를 통한 </a:t>
            </a:r>
            <a:r>
              <a:rPr lang="en-US" altLang="ko-KR" dirty="0"/>
              <a:t>3D </a:t>
            </a:r>
            <a:r>
              <a:rPr lang="ko-KR" altLang="en-US" dirty="0"/>
              <a:t>지도 표현</a:t>
            </a:r>
            <a:endParaRPr lang="en-US" altLang="ko-KR" dirty="0"/>
          </a:p>
          <a:p>
            <a:pPr lvl="1" algn="just" latinLnBrk="0"/>
            <a:r>
              <a:rPr lang="en-US" altLang="ko-KR" dirty="0" err="1"/>
              <a:t>Animation_demo</a:t>
            </a:r>
            <a:r>
              <a:rPr lang="en-US" altLang="ko-KR" dirty="0"/>
              <a:t>:</a:t>
            </a:r>
            <a:r>
              <a:rPr lang="ko-KR" altLang="en-US" dirty="0"/>
              <a:t> 프레임 단위로 움직이는 효과</a:t>
            </a:r>
            <a:endParaRPr lang="ko-KR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DA9DD3-6B08-6445-C324-510C046560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3.</a:t>
            </a:r>
            <a:r>
              <a:rPr lang="ko-KR" altLang="en-US" dirty="0"/>
              <a:t> 데모 페이지 탐색</a:t>
            </a:r>
          </a:p>
        </p:txBody>
      </p:sp>
    </p:spTree>
    <p:extLst>
      <p:ext uri="{BB962C8B-B14F-4D97-AF65-F5344CB8AC3E}">
        <p14:creationId xmlns:p14="http://schemas.microsoft.com/office/powerpoint/2010/main" val="1962698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33069-1B29-01A9-F680-CB68383E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135874A-3BC3-39CB-BA02-14B1CF97A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latinLnBrk="0"/>
            <a:r>
              <a:rPr lang="en-US" altLang="ko-KR" dirty="0" err="1"/>
              <a:t>DataFrame</a:t>
            </a:r>
            <a:r>
              <a:rPr lang="en-US" altLang="ko-KR" dirty="0"/>
              <a:t> demo</a:t>
            </a:r>
          </a:p>
          <a:p>
            <a:pPr lvl="1" algn="just" latinLnBrk="0"/>
            <a:r>
              <a:rPr lang="en-US" altLang="ko-KR" dirty="0" err="1"/>
              <a:t>st.dataframe</a:t>
            </a:r>
            <a:r>
              <a:rPr lang="en-US" altLang="ko-KR" dirty="0"/>
              <a:t>()</a:t>
            </a:r>
            <a:r>
              <a:rPr lang="ko-KR" altLang="en-US" dirty="0"/>
              <a:t>을 이용해 </a:t>
            </a:r>
            <a:r>
              <a:rPr lang="en-US" altLang="ko-KR" dirty="0" err="1"/>
              <a:t>DataFrame</a:t>
            </a:r>
            <a:r>
              <a:rPr lang="en-US" altLang="ko-KR" dirty="0"/>
              <a:t> </a:t>
            </a:r>
            <a:r>
              <a:rPr lang="ko-KR" altLang="en-US" dirty="0"/>
              <a:t>시각화</a:t>
            </a:r>
            <a:endParaRPr lang="en-US" altLang="ko-KR" dirty="0"/>
          </a:p>
          <a:p>
            <a:pPr lvl="1" algn="just" latinLnBrk="0"/>
            <a:r>
              <a:rPr lang="ko-KR" altLang="en-US" dirty="0"/>
              <a:t> 데이터 불러오기와 데이터 시각화</a:t>
            </a:r>
            <a:endParaRPr lang="en-US" altLang="ko-KR" dirty="0"/>
          </a:p>
          <a:p>
            <a:pPr lvl="1" algn="just" latinLnBrk="0"/>
            <a:r>
              <a:rPr lang="ko-KR" altLang="en-US" dirty="0"/>
              <a:t>상호작용에 따른 시각 데이터 변화</a:t>
            </a:r>
            <a:endParaRPr lang="en-US" altLang="ko-KR" dirty="0"/>
          </a:p>
          <a:p>
            <a:pPr lvl="1" algn="just" latinLnBrk="0"/>
            <a:endParaRPr lang="en-US" altLang="ko-KR" dirty="0"/>
          </a:p>
          <a:p>
            <a:pPr lvl="0" algn="just" fontAlgn="base" latinLnBrk="0"/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AB3DFC-B7B2-C8C8-1B9E-48B2796921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3.</a:t>
            </a:r>
            <a:r>
              <a:rPr lang="ko-KR" altLang="en-US" dirty="0"/>
              <a:t> 데모 페이지 탐색</a:t>
            </a:r>
          </a:p>
        </p:txBody>
      </p:sp>
    </p:spTree>
    <p:extLst>
      <p:ext uri="{BB962C8B-B14F-4D97-AF65-F5344CB8AC3E}">
        <p14:creationId xmlns:p14="http://schemas.microsoft.com/office/powerpoint/2010/main" val="1829149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63A23-761C-6E54-4822-E8413061A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91F4949-1DFF-8F49-4FC3-CB0DAA06B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latinLnBrk="0"/>
            <a:r>
              <a:rPr lang="en-US" altLang="ko-KR" dirty="0"/>
              <a:t>Plotting demo</a:t>
            </a:r>
          </a:p>
          <a:p>
            <a:pPr lvl="1" algn="just" latinLnBrk="0"/>
            <a:r>
              <a:rPr lang="en-US" altLang="ko-KR" dirty="0" err="1"/>
              <a:t>st.line_chart</a:t>
            </a:r>
            <a:r>
              <a:rPr lang="en-US" altLang="ko-KR" dirty="0"/>
              <a:t>()</a:t>
            </a:r>
            <a:r>
              <a:rPr lang="ko-KR" altLang="en-US" dirty="0"/>
              <a:t>로 실시간 그래프 차트 업데이트</a:t>
            </a:r>
            <a:endParaRPr lang="en-US" altLang="ko-KR" dirty="0"/>
          </a:p>
          <a:p>
            <a:pPr lvl="1" algn="just" latinLnBrk="0"/>
            <a:r>
              <a:rPr lang="en-US" altLang="ko-KR" dirty="0"/>
              <a:t>5</a:t>
            </a:r>
            <a:r>
              <a:rPr lang="ko-KR" altLang="en-US" dirty="0"/>
              <a:t>개의 랜덤 데이터를 </a:t>
            </a:r>
            <a:r>
              <a:rPr lang="en-US" altLang="ko-KR" dirty="0"/>
              <a:t>100</a:t>
            </a:r>
            <a:r>
              <a:rPr lang="ko-KR" altLang="en-US" dirty="0"/>
              <a:t>회 생성하여 선형 그래프 생성</a:t>
            </a:r>
            <a:endParaRPr lang="en-US" altLang="ko-KR" dirty="0"/>
          </a:p>
          <a:p>
            <a:pPr lvl="1" algn="just" latinLnBrk="0"/>
            <a:endParaRPr lang="en-US" altLang="ko-KR" dirty="0"/>
          </a:p>
          <a:p>
            <a:pPr lvl="0" algn="just" fontAlgn="base" latinLnBrk="0"/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8CB706-9CEF-61E3-F84E-0457F224D2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3.</a:t>
            </a:r>
            <a:r>
              <a:rPr lang="ko-KR" altLang="en-US" dirty="0"/>
              <a:t> 데모 페이지 탐색</a:t>
            </a:r>
          </a:p>
        </p:txBody>
      </p:sp>
    </p:spTree>
    <p:extLst>
      <p:ext uri="{BB962C8B-B14F-4D97-AF65-F5344CB8AC3E}">
        <p14:creationId xmlns:p14="http://schemas.microsoft.com/office/powerpoint/2010/main" val="4094542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E973C-E06B-8FFA-CF07-13BCBAC00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3310E4A-A8BD-B4C1-2847-D31CCCE55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latinLnBrk="0"/>
            <a:r>
              <a:rPr lang="en-US" altLang="ko-KR" dirty="0"/>
              <a:t>Mapping demo</a:t>
            </a:r>
          </a:p>
          <a:p>
            <a:pPr lvl="1" algn="just" latinLnBrk="0"/>
            <a:r>
              <a:rPr lang="en-US" altLang="ko-KR" dirty="0" err="1"/>
              <a:t>st.pydeck_chart</a:t>
            </a:r>
            <a:r>
              <a:rPr lang="en-US" altLang="ko-KR" dirty="0"/>
              <a:t>()</a:t>
            </a:r>
            <a:r>
              <a:rPr lang="ko-KR" altLang="en-US" dirty="0" err="1"/>
              <a:t>를</a:t>
            </a:r>
            <a:r>
              <a:rPr lang="ko-KR" altLang="en-US" dirty="0"/>
              <a:t> 통해 여러 위치 데이터를 </a:t>
            </a:r>
            <a:r>
              <a:rPr lang="en-US" altLang="ko-KR" dirty="0"/>
              <a:t>3D </a:t>
            </a:r>
            <a:r>
              <a:rPr lang="ko-KR" altLang="en-US" dirty="0"/>
              <a:t>지도 위에 시각화</a:t>
            </a:r>
            <a:endParaRPr lang="en-US" altLang="ko-KR" dirty="0"/>
          </a:p>
          <a:p>
            <a:pPr lvl="1" algn="just" latinLnBrk="0"/>
            <a:r>
              <a:rPr lang="ko-KR" altLang="en-US" dirty="0"/>
              <a:t>데이터 별로 다양한 레이어를 활용하여 시각화</a:t>
            </a:r>
            <a:endParaRPr lang="en-US" altLang="ko-KR" dirty="0"/>
          </a:p>
          <a:p>
            <a:pPr lvl="1" algn="just" latinLnBrk="0"/>
            <a:r>
              <a:rPr lang="ko-KR" altLang="en-US" dirty="0"/>
              <a:t>체크박스를 통해 레이어 선택 및 해제 가능</a:t>
            </a:r>
            <a:endParaRPr lang="en-US" altLang="ko-KR" dirty="0"/>
          </a:p>
          <a:p>
            <a:pPr lvl="0" algn="just" fontAlgn="base" latinLnBrk="0"/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7B210C-7395-E49C-16C1-666E55A6B9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3.</a:t>
            </a:r>
            <a:r>
              <a:rPr lang="ko-KR" altLang="en-US" dirty="0"/>
              <a:t> 데모 페이지 탐색</a:t>
            </a:r>
          </a:p>
        </p:txBody>
      </p:sp>
    </p:spTree>
    <p:extLst>
      <p:ext uri="{BB962C8B-B14F-4D97-AF65-F5344CB8AC3E}">
        <p14:creationId xmlns:p14="http://schemas.microsoft.com/office/powerpoint/2010/main" val="34212767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8036F-2D44-EDA1-2350-4D324785D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664286D-B2B3-707D-92D1-00D19E236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latinLnBrk="0"/>
            <a:r>
              <a:rPr lang="en-US" altLang="ko-KR" dirty="0"/>
              <a:t>Animation demo</a:t>
            </a:r>
          </a:p>
          <a:p>
            <a:pPr lvl="1" algn="just" latinLnBrk="0"/>
            <a:r>
              <a:rPr lang="ko-KR" altLang="en-US" dirty="0" err="1"/>
              <a:t>프랙탈</a:t>
            </a:r>
            <a:r>
              <a:rPr lang="ko-KR" altLang="en-US" dirty="0"/>
              <a:t> 패턴을 계산하여 실시간으로 이미지가 변화하는 애니메이션 시각화</a:t>
            </a:r>
            <a:endParaRPr lang="en-US" altLang="ko-KR" dirty="0"/>
          </a:p>
          <a:p>
            <a:pPr lvl="1" algn="just" latinLnBrk="0"/>
            <a:r>
              <a:rPr lang="ko-KR" altLang="en-US" dirty="0"/>
              <a:t>상호작용에 따라 계산 수준 조절</a:t>
            </a:r>
            <a:endParaRPr lang="en-US" altLang="ko-KR" dirty="0"/>
          </a:p>
          <a:p>
            <a:pPr lvl="1" algn="just" latinLnBrk="0"/>
            <a:r>
              <a:rPr lang="ko-KR" altLang="en-US" dirty="0"/>
              <a:t>프레임 단위로 이미지 생성 및 시각화를 반복</a:t>
            </a:r>
            <a:endParaRPr lang="en-US" altLang="ko-KR" dirty="0"/>
          </a:p>
          <a:p>
            <a:pPr lvl="0" algn="just" fontAlgn="base" latinLnBrk="0"/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B9B755-8566-29A7-4F5A-DD9F747A5A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3.</a:t>
            </a:r>
            <a:r>
              <a:rPr lang="ko-KR" altLang="en-US" dirty="0"/>
              <a:t> 데모 페이지 탐색</a:t>
            </a:r>
          </a:p>
        </p:txBody>
      </p:sp>
    </p:spTree>
    <p:extLst>
      <p:ext uri="{BB962C8B-B14F-4D97-AF65-F5344CB8AC3E}">
        <p14:creationId xmlns:p14="http://schemas.microsoft.com/office/powerpoint/2010/main" val="36058769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B6C8C-A70A-47B6-BF34-D351914B0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36B41F4-A8D6-28DB-1152-649BD3146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Streamlit</a:t>
            </a:r>
            <a:r>
              <a:rPr lang="en-US" altLang="ko-KR" dirty="0"/>
              <a:t> </a:t>
            </a:r>
            <a:r>
              <a:rPr lang="ko-KR" altLang="en-US" dirty="0"/>
              <a:t>앱 구조 </a:t>
            </a:r>
            <a:endParaRPr lang="en-US" altLang="ko-KR" dirty="0"/>
          </a:p>
          <a:p>
            <a:pPr lvl="1"/>
            <a:r>
              <a:rPr lang="en-US" altLang="ko-KR" dirty="0"/>
              <a:t>Python </a:t>
            </a:r>
            <a:r>
              <a:rPr lang="ko-KR" altLang="en-US" dirty="0"/>
              <a:t>파일을 실행해 웹 페이지를 만드는 방식</a:t>
            </a:r>
          </a:p>
          <a:p>
            <a:pPr lvl="1"/>
            <a:r>
              <a:rPr lang="ko-KR" altLang="en-US" dirty="0"/>
              <a:t>터미널에서 </a:t>
            </a:r>
            <a:r>
              <a:rPr lang="en-US" altLang="ko-KR" dirty="0"/>
              <a:t>“</a:t>
            </a:r>
            <a:r>
              <a:rPr lang="en-US" altLang="ko-KR" dirty="0" err="1"/>
              <a:t>streamlit</a:t>
            </a:r>
            <a:r>
              <a:rPr lang="en-US" altLang="ko-KR" dirty="0"/>
              <a:t> run </a:t>
            </a:r>
            <a:r>
              <a:rPr lang="en-US" altLang="ko-KR" dirty="0" err="1"/>
              <a:t>app.py</a:t>
            </a:r>
            <a:r>
              <a:rPr lang="en-US" altLang="ko-KR" dirty="0"/>
              <a:t>” </a:t>
            </a:r>
            <a:r>
              <a:rPr lang="ko-KR" altLang="en-US" dirty="0"/>
              <a:t>명령으로 실행</a:t>
            </a:r>
          </a:p>
          <a:p>
            <a:pPr lvl="1"/>
            <a:r>
              <a:rPr lang="ko-KR" altLang="en-US" dirty="0"/>
              <a:t>실행하면 브라우저가 자동으로 열리고 결과가 표시</a:t>
            </a:r>
          </a:p>
          <a:p>
            <a:pPr lvl="1"/>
            <a:r>
              <a:rPr lang="ko-KR" altLang="en-US" dirty="0"/>
              <a:t>코드가 위에서 아래로 순차적으로 실행</a:t>
            </a:r>
          </a:p>
          <a:p>
            <a:pPr lvl="1"/>
            <a:r>
              <a:rPr lang="ko-KR" altLang="en-US" dirty="0"/>
              <a:t>화면 조작 시 전체 코드가 다시 실행되어 화면이 갱신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D29631-6C7D-5DD8-458A-A66793C278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 </a:t>
            </a:r>
            <a:r>
              <a:rPr lang="en-US" altLang="ko-KR" dirty="0" err="1"/>
              <a:t>Streamlit</a:t>
            </a:r>
            <a:r>
              <a:rPr lang="en-US" altLang="ko-KR" dirty="0"/>
              <a:t> </a:t>
            </a:r>
            <a:r>
              <a:rPr lang="ko-KR" altLang="en-US" dirty="0"/>
              <a:t>앱 구조</a:t>
            </a:r>
          </a:p>
        </p:txBody>
      </p:sp>
    </p:spTree>
    <p:extLst>
      <p:ext uri="{BB962C8B-B14F-4D97-AF65-F5344CB8AC3E}">
        <p14:creationId xmlns:p14="http://schemas.microsoft.com/office/powerpoint/2010/main" val="2455510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390B7-0125-0A61-3E43-A7EABBFFF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20CCF0D-7C1A-4B36-06AC-AD3245FC2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ko-KR" dirty="0" err="1"/>
              <a:t>Streamlit</a:t>
            </a:r>
            <a:r>
              <a:rPr lang="en-US" altLang="ko-KR" dirty="0"/>
              <a:t> </a:t>
            </a:r>
            <a:r>
              <a:rPr lang="ko-KR" altLang="en-US" dirty="0"/>
              <a:t>기본 구성 요소</a:t>
            </a:r>
            <a:endParaRPr lang="en-US" altLang="ko-KR" dirty="0"/>
          </a:p>
          <a:p>
            <a:pPr lvl="1"/>
            <a:r>
              <a:rPr lang="ko-KR" altLang="en-US" dirty="0"/>
              <a:t>제목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dirty="0"/>
              <a:t>Title</a:t>
            </a:r>
          </a:p>
          <a:p>
            <a:pPr lvl="2" latinLnBrk="0"/>
            <a:r>
              <a:rPr lang="en-US" altLang="ko-KR" b="0" dirty="0"/>
              <a:t>st.title('This is the title＇)</a:t>
            </a:r>
          </a:p>
          <a:p>
            <a:pPr lvl="1"/>
            <a:r>
              <a:rPr lang="ko-KR" altLang="en-US" dirty="0"/>
              <a:t>헤더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dirty="0"/>
              <a:t>Header</a:t>
            </a:r>
          </a:p>
          <a:p>
            <a:pPr lvl="2" latinLnBrk="0"/>
            <a:r>
              <a:rPr lang="en-US" altLang="ko-KR" b="0" dirty="0"/>
              <a:t>st.header('This is the header')</a:t>
            </a:r>
          </a:p>
          <a:p>
            <a:pPr lvl="1"/>
            <a:r>
              <a:rPr lang="ko-KR" altLang="en-US" dirty="0" err="1"/>
              <a:t>서브헤더</a:t>
            </a:r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dirty="0" err="1"/>
              <a:t>Subheader</a:t>
            </a:r>
            <a:endParaRPr lang="en-US" altLang="ko-KR" dirty="0"/>
          </a:p>
          <a:p>
            <a:pPr lvl="2" latinLnBrk="0"/>
            <a:r>
              <a:rPr lang="en-US" altLang="ko-KR" b="0" dirty="0"/>
              <a:t>st.subheader('This is the subheader')</a:t>
            </a:r>
          </a:p>
          <a:p>
            <a:pPr lvl="1"/>
            <a:r>
              <a:rPr lang="ko-KR" altLang="en-US" dirty="0"/>
              <a:t>텍스트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dirty="0"/>
              <a:t>Text</a:t>
            </a:r>
          </a:p>
          <a:p>
            <a:pPr lvl="2" latinLnBrk="0"/>
            <a:r>
              <a:rPr lang="en-US" altLang="ko-KR" b="0" dirty="0"/>
              <a:t>st.text('This is the text')</a:t>
            </a:r>
          </a:p>
          <a:p>
            <a:pPr lvl="1"/>
            <a:r>
              <a:rPr lang="ko-KR" altLang="en-US" dirty="0"/>
              <a:t>캡션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dirty="0"/>
              <a:t>Caption</a:t>
            </a:r>
          </a:p>
          <a:p>
            <a:pPr lvl="2"/>
            <a:r>
              <a:rPr lang="en-US" altLang="ko-KR" b="0" dirty="0"/>
              <a:t>st.caption('This is the caption')</a:t>
            </a:r>
          </a:p>
          <a:p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2EE762-1E9C-82E0-1790-A6C15AA260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 </a:t>
            </a:r>
            <a:r>
              <a:rPr lang="en-US" altLang="ko-KR" dirty="0" err="1"/>
              <a:t>Streamlit</a:t>
            </a:r>
            <a:r>
              <a:rPr lang="en-US" altLang="ko-KR" dirty="0"/>
              <a:t> </a:t>
            </a:r>
            <a:r>
              <a:rPr lang="ko-KR" altLang="en-US" dirty="0"/>
              <a:t>구성 요소</a:t>
            </a:r>
          </a:p>
        </p:txBody>
      </p:sp>
    </p:spTree>
    <p:extLst>
      <p:ext uri="{BB962C8B-B14F-4D97-AF65-F5344CB8AC3E}">
        <p14:creationId xmlns:p14="http://schemas.microsoft.com/office/powerpoint/2010/main" val="37557415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1793D-DF39-85AE-11F2-948D033EC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55D5DA-B9B6-42BD-24E9-1D19EC67D0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 </a:t>
            </a:r>
            <a:r>
              <a:rPr lang="en-US" altLang="ko-KR" dirty="0" err="1"/>
              <a:t>Streamlit</a:t>
            </a:r>
            <a:r>
              <a:rPr lang="en-US" altLang="ko-KR" dirty="0"/>
              <a:t> </a:t>
            </a:r>
            <a:r>
              <a:rPr lang="ko-KR" altLang="en-US" dirty="0"/>
              <a:t>구성 요소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871AEA-8072-CFD3-8656-9AE5800D6344}"/>
              </a:ext>
            </a:extLst>
          </p:cNvPr>
          <p:cNvSpPr txBox="1"/>
          <p:nvPr/>
        </p:nvSpPr>
        <p:spPr>
          <a:xfrm>
            <a:off x="560038" y="1024470"/>
            <a:ext cx="782648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 err="1"/>
              <a:t>import</a:t>
            </a:r>
            <a:r>
              <a:rPr lang="ko-KR" altLang="en-US" sz="2400" dirty="0"/>
              <a:t> </a:t>
            </a:r>
            <a:r>
              <a:rPr lang="ko-KR" altLang="en-US" sz="2400" dirty="0" err="1"/>
              <a:t>streamlit</a:t>
            </a:r>
            <a:r>
              <a:rPr lang="ko-KR" altLang="en-US" sz="2400" dirty="0"/>
              <a:t> </a:t>
            </a:r>
            <a:r>
              <a:rPr lang="ko-KR" altLang="en-US" sz="2400" dirty="0" err="1"/>
              <a:t>as</a:t>
            </a:r>
            <a:r>
              <a:rPr lang="ko-KR" altLang="en-US" sz="2400" dirty="0"/>
              <a:t> </a:t>
            </a:r>
            <a:r>
              <a:rPr lang="ko-KR" altLang="en-US" sz="2400" dirty="0" err="1"/>
              <a:t>st</a:t>
            </a:r>
            <a:endParaRPr lang="ko-KR" altLang="en-US" sz="2400" dirty="0"/>
          </a:p>
          <a:p>
            <a:endParaRPr lang="ko-KR" altLang="en-US" sz="2400" dirty="0"/>
          </a:p>
          <a:p>
            <a:r>
              <a:rPr lang="ko-KR" altLang="en-US" sz="2400" dirty="0" err="1"/>
              <a:t>st.title</a:t>
            </a:r>
            <a:r>
              <a:rPr lang="ko-KR" altLang="en-US" sz="2400" dirty="0"/>
              <a:t>("</a:t>
            </a:r>
            <a:r>
              <a:rPr lang="ko-KR" altLang="en-US" sz="2400" dirty="0" err="1"/>
              <a:t>Streamlit</a:t>
            </a:r>
            <a:r>
              <a:rPr lang="ko-KR" altLang="en-US" sz="2400" dirty="0"/>
              <a:t> 예시 페이지")</a:t>
            </a:r>
          </a:p>
          <a:p>
            <a:r>
              <a:rPr lang="ko-KR" altLang="en-US" sz="2400" dirty="0" err="1"/>
              <a:t>st.header</a:t>
            </a:r>
            <a:r>
              <a:rPr lang="ko-KR" altLang="en-US" sz="2400" dirty="0"/>
              <a:t>("이건 </a:t>
            </a:r>
            <a:r>
              <a:rPr lang="ko-KR" altLang="en-US" sz="2400" dirty="0" err="1"/>
              <a:t>Header</a:t>
            </a:r>
            <a:r>
              <a:rPr lang="ko-KR" altLang="en-US" sz="2400" dirty="0"/>
              <a:t> 입니다")</a:t>
            </a:r>
          </a:p>
          <a:p>
            <a:r>
              <a:rPr lang="ko-KR" altLang="en-US" sz="2400" dirty="0" err="1"/>
              <a:t>st.subheader</a:t>
            </a:r>
            <a:r>
              <a:rPr lang="ko-KR" altLang="en-US" sz="2400" dirty="0"/>
              <a:t>("이건 </a:t>
            </a:r>
            <a:r>
              <a:rPr lang="ko-KR" altLang="en-US" sz="2400" dirty="0" err="1"/>
              <a:t>Subheader</a:t>
            </a:r>
            <a:r>
              <a:rPr lang="ko-KR" altLang="en-US" sz="2400" dirty="0"/>
              <a:t> 입니다")</a:t>
            </a:r>
          </a:p>
          <a:p>
            <a:endParaRPr lang="ko-KR" altLang="en-US" sz="2400" dirty="0"/>
          </a:p>
          <a:p>
            <a:r>
              <a:rPr lang="ko-KR" altLang="en-US" sz="2400" dirty="0" err="1"/>
              <a:t>st.text</a:t>
            </a:r>
            <a:r>
              <a:rPr lang="ko-KR" altLang="en-US" sz="2400" dirty="0"/>
              <a:t>("단순한 텍스트입니다.")</a:t>
            </a:r>
          </a:p>
          <a:p>
            <a:r>
              <a:rPr lang="ko-KR" altLang="en-US" sz="2400" dirty="0" err="1"/>
              <a:t>st.caption</a:t>
            </a:r>
            <a:r>
              <a:rPr lang="ko-KR" altLang="en-US" sz="2400" dirty="0"/>
              <a:t>("이건 캡션(작은 글씨)입니다.")</a:t>
            </a:r>
          </a:p>
          <a:p>
            <a:endParaRPr lang="ko-KR" altLang="en-US" sz="2400" dirty="0"/>
          </a:p>
          <a:p>
            <a:r>
              <a:rPr lang="ko-KR" altLang="en-US" sz="2400" dirty="0" err="1"/>
              <a:t>st.markdown</a:t>
            </a:r>
            <a:r>
              <a:rPr lang="ko-KR" altLang="en-US" sz="2400" dirty="0"/>
              <a:t>("**마크다운** 문법도 _사용_ 가능")</a:t>
            </a:r>
          </a:p>
        </p:txBody>
      </p:sp>
    </p:spTree>
    <p:extLst>
      <p:ext uri="{BB962C8B-B14F-4D97-AF65-F5344CB8AC3E}">
        <p14:creationId xmlns:p14="http://schemas.microsoft.com/office/powerpoint/2010/main" val="9603132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F71F2-BC79-B6AB-FE45-AC6A6B751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3CDBB55-2834-D28B-4041-A0B645855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dirty="0" err="1"/>
              <a:t>st.write</a:t>
            </a:r>
            <a:r>
              <a:rPr lang="en-US" altLang="ko-KR" dirty="0"/>
              <a:t>()</a:t>
            </a:r>
          </a:p>
          <a:p>
            <a:pPr lvl="1"/>
            <a:r>
              <a:rPr lang="ko-KR" altLang="en-US" dirty="0"/>
              <a:t>범용적으로 가장 많이 쓰이는 출력 함수</a:t>
            </a:r>
            <a:endParaRPr lang="en-US" altLang="ko-KR" dirty="0"/>
          </a:p>
          <a:p>
            <a:pPr lvl="1"/>
            <a:r>
              <a:rPr lang="ko-KR" altLang="en-US" dirty="0"/>
              <a:t>문자열</a:t>
            </a:r>
            <a:r>
              <a:rPr lang="en-US" altLang="ko-KR" dirty="0"/>
              <a:t>,</a:t>
            </a:r>
            <a:r>
              <a:rPr lang="ko-KR" altLang="en-US" dirty="0"/>
              <a:t> 숫자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DateFrame</a:t>
            </a:r>
            <a:r>
              <a:rPr lang="en-US" altLang="ko-KR" dirty="0"/>
              <a:t> </a:t>
            </a:r>
            <a:r>
              <a:rPr lang="ko-KR" altLang="en-US" dirty="0"/>
              <a:t>등 자동 인식하여 출력</a:t>
            </a:r>
            <a:endParaRPr lang="en-US" altLang="ko-KR" dirty="0"/>
          </a:p>
          <a:p>
            <a:pPr lvl="1"/>
            <a:r>
              <a:rPr lang="en-US" altLang="ko-KR" b="0" dirty="0" err="1"/>
              <a:t>st.write</a:t>
            </a:r>
            <a:r>
              <a:rPr lang="en-US" altLang="ko-KR" b="0" dirty="0"/>
              <a:t>("</a:t>
            </a:r>
            <a:r>
              <a:rPr lang="ko-KR" altLang="en-US" b="0" dirty="0"/>
              <a:t>문자열 출력</a:t>
            </a:r>
            <a:r>
              <a:rPr lang="en-US" altLang="ko-KR" b="0" dirty="0"/>
              <a:t>")</a:t>
            </a:r>
            <a:br>
              <a:rPr lang="en-US" altLang="ko-KR" b="0" dirty="0"/>
            </a:br>
            <a:r>
              <a:rPr lang="en-US" altLang="ko-KR" b="0" dirty="0" err="1"/>
              <a:t>st.write</a:t>
            </a:r>
            <a:r>
              <a:rPr lang="en-US" altLang="ko-KR" b="0" dirty="0"/>
              <a:t>(12345)</a:t>
            </a:r>
            <a:br>
              <a:rPr lang="en-US" altLang="ko-KR" b="0" dirty="0"/>
            </a:br>
            <a:r>
              <a:rPr lang="en-US" altLang="ko-KR" b="0" dirty="0" err="1"/>
              <a:t>df</a:t>
            </a:r>
            <a:r>
              <a:rPr lang="en-US" altLang="ko-KR" b="0" dirty="0"/>
              <a:t> = </a:t>
            </a:r>
            <a:r>
              <a:rPr lang="en-US" altLang="ko-KR" b="0" dirty="0" err="1"/>
              <a:t>pd.DataFrame</a:t>
            </a:r>
            <a:r>
              <a:rPr lang="en-US" altLang="ko-KR" b="0" dirty="0"/>
              <a:t>({</a:t>
            </a:r>
            <a:br>
              <a:rPr lang="en-US" altLang="ko-KR" b="0" dirty="0"/>
            </a:br>
            <a:r>
              <a:rPr lang="en-US" altLang="ko-KR" b="0" dirty="0"/>
              <a:t>	"A": [1, 2, 3],</a:t>
            </a:r>
            <a:br>
              <a:rPr lang="en-US" altLang="ko-KR" b="0" dirty="0"/>
            </a:br>
            <a:r>
              <a:rPr lang="en-US" altLang="ko-KR" b="0" dirty="0"/>
              <a:t>	"B": [10, 20, 30]</a:t>
            </a:r>
            <a:br>
              <a:rPr lang="en-US" altLang="ko-KR" b="0" dirty="0"/>
            </a:br>
            <a:r>
              <a:rPr lang="en-US" altLang="ko-KR" b="0" dirty="0"/>
              <a:t>})</a:t>
            </a:r>
            <a:br>
              <a:rPr lang="en-US" altLang="ko-KR" b="0" dirty="0"/>
            </a:br>
            <a:r>
              <a:rPr lang="en-US" altLang="ko-KR" b="0" dirty="0" err="1"/>
              <a:t>st.write</a:t>
            </a:r>
            <a:r>
              <a:rPr lang="en-US" altLang="ko-KR" b="0" dirty="0"/>
              <a:t>("</a:t>
            </a:r>
            <a:r>
              <a:rPr lang="ko-KR" altLang="en-US" b="0" dirty="0"/>
              <a:t>데이터프레임 예시</a:t>
            </a:r>
            <a:r>
              <a:rPr lang="en-US" altLang="ko-KR" b="0" dirty="0"/>
              <a:t>:", </a:t>
            </a:r>
            <a:r>
              <a:rPr lang="en-US" altLang="ko-KR" b="0" dirty="0" err="1"/>
              <a:t>df</a:t>
            </a:r>
            <a:r>
              <a:rPr lang="en-US" altLang="ko-KR" b="0" dirty="0"/>
              <a:t>)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3DA288-A3DF-DE7A-D292-EBA253E24C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 </a:t>
            </a:r>
            <a:r>
              <a:rPr lang="en-US" altLang="ko-KR" dirty="0" err="1"/>
              <a:t>Streamlit</a:t>
            </a:r>
            <a:r>
              <a:rPr lang="en-US" altLang="ko-KR" dirty="0"/>
              <a:t> </a:t>
            </a:r>
            <a:r>
              <a:rPr lang="ko-KR" altLang="en-US" dirty="0"/>
              <a:t>구성 요소</a:t>
            </a:r>
          </a:p>
        </p:txBody>
      </p:sp>
      <p:pic>
        <p:nvPicPr>
          <p:cNvPr id="8" name="그림 7" descr="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20193D-1C55-7AEF-8315-CE3FC525E2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4640" y="2896572"/>
            <a:ext cx="3937746" cy="2708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6615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5B345-2EC8-6274-5F71-AF9FC8232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512287-3444-9684-40E5-0B1F7ECED4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 </a:t>
            </a:r>
            <a:r>
              <a:rPr lang="en-US" altLang="ko-KR" dirty="0" err="1"/>
              <a:t>Streamlit</a:t>
            </a:r>
            <a:r>
              <a:rPr lang="en-US" altLang="ko-KR" dirty="0"/>
              <a:t> </a:t>
            </a:r>
            <a:r>
              <a:rPr lang="ko-KR" altLang="en-US" dirty="0"/>
              <a:t>구성 요소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36288B-B54E-D75B-A892-4CF298650696}"/>
              </a:ext>
            </a:extLst>
          </p:cNvPr>
          <p:cNvSpPr txBox="1"/>
          <p:nvPr/>
        </p:nvSpPr>
        <p:spPr>
          <a:xfrm>
            <a:off x="755981" y="791089"/>
            <a:ext cx="7826487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import </a:t>
            </a:r>
            <a:r>
              <a:rPr lang="en-US" altLang="ko-KR" sz="2400" dirty="0" err="1"/>
              <a:t>streamlit</a:t>
            </a:r>
            <a:r>
              <a:rPr lang="en-US" altLang="ko-KR" sz="2400" dirty="0"/>
              <a:t> as </a:t>
            </a:r>
            <a:r>
              <a:rPr lang="en-US" altLang="ko-KR" sz="2400" dirty="0" err="1"/>
              <a:t>st</a:t>
            </a:r>
            <a:endParaRPr lang="en-US" altLang="ko-KR" sz="2400" dirty="0"/>
          </a:p>
          <a:p>
            <a:r>
              <a:rPr lang="en-US" altLang="ko-KR" sz="2400" dirty="0"/>
              <a:t>import pandas as pd</a:t>
            </a:r>
          </a:p>
          <a:p>
            <a:endParaRPr lang="en-US" altLang="ko-KR" sz="2400" dirty="0"/>
          </a:p>
          <a:p>
            <a:r>
              <a:rPr lang="en-US" altLang="ko-KR" sz="2400" dirty="0" err="1"/>
              <a:t>st.title</a:t>
            </a:r>
            <a:r>
              <a:rPr lang="en-US" altLang="ko-KR" sz="2400" dirty="0"/>
              <a:t>("</a:t>
            </a:r>
            <a:r>
              <a:rPr lang="en-US" altLang="ko-KR" sz="2400" dirty="0" err="1"/>
              <a:t>st.write</a:t>
            </a:r>
            <a:r>
              <a:rPr lang="en-US" altLang="ko-KR" sz="2400" dirty="0"/>
              <a:t>() </a:t>
            </a:r>
            <a:r>
              <a:rPr lang="ko-KR" altLang="en-US" sz="2400" dirty="0"/>
              <a:t>예시</a:t>
            </a:r>
            <a:r>
              <a:rPr lang="en-US" altLang="ko-KR" sz="2400" dirty="0"/>
              <a:t>")</a:t>
            </a:r>
          </a:p>
          <a:p>
            <a:endParaRPr lang="en-US" altLang="ko-KR" sz="2400" dirty="0"/>
          </a:p>
          <a:p>
            <a:r>
              <a:rPr lang="en-US" altLang="ko-KR" sz="2400" dirty="0" err="1"/>
              <a:t>st.write</a:t>
            </a:r>
            <a:r>
              <a:rPr lang="en-US" altLang="ko-KR" sz="2400" dirty="0"/>
              <a:t>("</a:t>
            </a:r>
            <a:r>
              <a:rPr lang="ko-KR" altLang="en-US" sz="2400" dirty="0"/>
              <a:t>이건 문자열 출력입니다</a:t>
            </a:r>
            <a:r>
              <a:rPr lang="en-US" altLang="ko-KR" sz="2400" dirty="0"/>
              <a:t>.")</a:t>
            </a:r>
          </a:p>
          <a:p>
            <a:r>
              <a:rPr lang="en-US" altLang="ko-KR" sz="2400" dirty="0" err="1"/>
              <a:t>st.write</a:t>
            </a:r>
            <a:r>
              <a:rPr lang="en-US" altLang="ko-KR" sz="2400" dirty="0"/>
              <a:t>("**</a:t>
            </a:r>
            <a:r>
              <a:rPr lang="ko-KR" altLang="en-US" sz="2400" dirty="0"/>
              <a:t>마크다운 문법**도 자동 인식됩니다</a:t>
            </a:r>
            <a:r>
              <a:rPr lang="en-US" altLang="ko-KR" sz="2400" dirty="0"/>
              <a:t>.")</a:t>
            </a:r>
          </a:p>
          <a:p>
            <a:endParaRPr lang="en-US" altLang="ko-KR" sz="2400" dirty="0"/>
          </a:p>
          <a:p>
            <a:r>
              <a:rPr lang="en-US" altLang="ko-KR" sz="2400" dirty="0" err="1"/>
              <a:t>st.write</a:t>
            </a:r>
            <a:r>
              <a:rPr lang="en-US" altLang="ko-KR" sz="2400" dirty="0"/>
              <a:t>("</a:t>
            </a:r>
            <a:r>
              <a:rPr lang="ko-KR" altLang="en-US" sz="2400" dirty="0"/>
              <a:t>계산 예시</a:t>
            </a:r>
            <a:r>
              <a:rPr lang="en-US" altLang="ko-KR" sz="2400" dirty="0"/>
              <a:t>:", 10 + 5)</a:t>
            </a:r>
          </a:p>
          <a:p>
            <a:r>
              <a:rPr lang="en-US" altLang="ko-KR" sz="2400" dirty="0" err="1"/>
              <a:t>st.write</a:t>
            </a:r>
            <a:r>
              <a:rPr lang="en-US" altLang="ko-KR" sz="2400" dirty="0"/>
              <a:t>("LaTeX </a:t>
            </a:r>
            <a:r>
              <a:rPr lang="ko-KR" altLang="en-US" sz="2400" dirty="0"/>
              <a:t>수식 예시</a:t>
            </a:r>
            <a:r>
              <a:rPr lang="en-US" altLang="ko-KR" sz="2400" dirty="0"/>
              <a:t>:", r"$a^2 + b^2 = c^2$")</a:t>
            </a:r>
          </a:p>
          <a:p>
            <a:endParaRPr lang="en-US" altLang="ko-KR" sz="2400" dirty="0"/>
          </a:p>
          <a:p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r>
              <a:rPr lang="en-US" altLang="ko-KR" sz="2400" dirty="0"/>
              <a:t>    "</a:t>
            </a:r>
            <a:r>
              <a:rPr lang="ko-KR" altLang="en-US" sz="2400" dirty="0"/>
              <a:t>이름</a:t>
            </a:r>
            <a:r>
              <a:rPr lang="en-US" altLang="ko-KR" sz="2400" dirty="0"/>
              <a:t>": ["A", "B", "C"],</a:t>
            </a:r>
          </a:p>
          <a:p>
            <a:r>
              <a:rPr lang="en-US" altLang="ko-KR" sz="2400" dirty="0"/>
              <a:t>    "</a:t>
            </a:r>
            <a:r>
              <a:rPr lang="ko-KR" altLang="en-US" sz="2400" dirty="0"/>
              <a:t>점수</a:t>
            </a:r>
            <a:r>
              <a:rPr lang="en-US" altLang="ko-KR" sz="2400" dirty="0"/>
              <a:t>": [85, 90, 78]</a:t>
            </a:r>
          </a:p>
          <a:p>
            <a:r>
              <a:rPr lang="en-US" altLang="ko-KR" sz="2400" dirty="0"/>
              <a:t>})</a:t>
            </a:r>
          </a:p>
          <a:p>
            <a:r>
              <a:rPr lang="en-US" altLang="ko-KR" sz="2400" dirty="0" err="1"/>
              <a:t>st.write</a:t>
            </a:r>
            <a:r>
              <a:rPr lang="en-US" altLang="ko-KR" sz="2400" dirty="0"/>
              <a:t>("</a:t>
            </a:r>
            <a:r>
              <a:rPr lang="ko-KR" altLang="en-US" sz="2400" dirty="0"/>
              <a:t>데이터프레임 예시</a:t>
            </a:r>
            <a:r>
              <a:rPr lang="en-US" altLang="ko-KR" sz="2400" dirty="0"/>
              <a:t>:", </a:t>
            </a:r>
            <a:r>
              <a:rPr lang="en-US" altLang="ko-KR" sz="2400" dirty="0" err="1"/>
              <a:t>df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316142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47C99-603A-DF16-6A60-D4F18EB7D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466CBEA-F35F-4F04-3E20-059C28656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번호 리스트</a:t>
            </a:r>
            <a:endParaRPr lang="en-US" altLang="ko-KR" dirty="0"/>
          </a:p>
          <a:p>
            <a:pPr lvl="1"/>
            <a:r>
              <a:rPr lang="ko-KR" altLang="en-US" dirty="0"/>
              <a:t>숫자와 점으로 작성하며</a:t>
            </a:r>
            <a:r>
              <a:rPr lang="en-US" altLang="ko-KR" dirty="0"/>
              <a:t>,</a:t>
            </a:r>
            <a:r>
              <a:rPr lang="ko-KR" altLang="en-US" dirty="0"/>
              <a:t> 공백 </a:t>
            </a:r>
            <a:r>
              <a:rPr lang="en-US" altLang="ko-KR" dirty="0"/>
              <a:t>3</a:t>
            </a:r>
            <a:r>
              <a:rPr lang="ko-KR" altLang="en-US" dirty="0"/>
              <a:t>칸으로 단계 구분</a:t>
            </a:r>
            <a:endParaRPr lang="en-US" altLang="ko-KR" dirty="0"/>
          </a:p>
          <a:p>
            <a:pPr lvl="1"/>
            <a:r>
              <a:rPr lang="en-US" altLang="ko-KR" b="0" dirty="0" err="1"/>
              <a:t>st.markdown</a:t>
            </a:r>
            <a:r>
              <a:rPr lang="en-US" altLang="ko-KR" b="0" dirty="0"/>
              <a:t>(</a:t>
            </a:r>
            <a:br>
              <a:rPr lang="en-US" altLang="ko-KR" b="0" dirty="0"/>
            </a:br>
            <a:r>
              <a:rPr lang="en-US" altLang="ko-KR" b="0" dirty="0"/>
              <a:t>    "1. </a:t>
            </a:r>
            <a:r>
              <a:rPr lang="ko-KR" altLang="en-US" b="0" dirty="0"/>
              <a:t>항목 </a:t>
            </a:r>
            <a:r>
              <a:rPr lang="en-US" altLang="ko-KR" b="0" dirty="0"/>
              <a:t>1\n”</a:t>
            </a:r>
            <a:br>
              <a:rPr lang="en-US" altLang="ko-KR" b="0" dirty="0"/>
            </a:br>
            <a:r>
              <a:rPr lang="en-US" altLang="ko-KR" b="0" dirty="0"/>
              <a:t>    "   1. </a:t>
            </a:r>
            <a:r>
              <a:rPr lang="ko-KR" altLang="en-US" b="0" dirty="0"/>
              <a:t>하위 항목 </a:t>
            </a:r>
            <a:r>
              <a:rPr lang="en-US" altLang="ko-KR" b="0" dirty="0"/>
              <a:t>1-1\n”</a:t>
            </a:r>
            <a:br>
              <a:rPr lang="en-US" altLang="ko-KR" b="0" dirty="0"/>
            </a:br>
            <a:r>
              <a:rPr lang="en-US" altLang="ko-KR" b="0" dirty="0"/>
              <a:t>    "   1. </a:t>
            </a:r>
            <a:r>
              <a:rPr lang="ko-KR" altLang="en-US" b="0" dirty="0"/>
              <a:t>하위 항목 </a:t>
            </a:r>
            <a:r>
              <a:rPr lang="en-US" altLang="ko-KR" b="0" dirty="0"/>
              <a:t>1-2\n”</a:t>
            </a:r>
            <a:br>
              <a:rPr lang="en-US" altLang="ko-KR" b="0" dirty="0"/>
            </a:br>
            <a:r>
              <a:rPr lang="en-US" altLang="ko-KR" b="0" dirty="0"/>
              <a:t>    "1. </a:t>
            </a:r>
            <a:r>
              <a:rPr lang="ko-KR" altLang="en-US" b="0" dirty="0"/>
              <a:t>항목 </a:t>
            </a:r>
            <a:r>
              <a:rPr lang="en-US" altLang="ko-KR" b="0" dirty="0"/>
              <a:t>2”</a:t>
            </a:r>
            <a:br>
              <a:rPr lang="en-US" altLang="ko-KR" b="0" dirty="0"/>
            </a:br>
            <a:r>
              <a:rPr lang="en-US" altLang="ko-KR" b="0" dirty="0"/>
              <a:t>)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FFB461-FC3F-4F3E-B0D4-E6AEA93248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 </a:t>
            </a:r>
            <a:r>
              <a:rPr lang="en-US" altLang="ko-KR" dirty="0" err="1"/>
              <a:t>Streamlit</a:t>
            </a:r>
            <a:r>
              <a:rPr lang="en-US" altLang="ko-KR" dirty="0"/>
              <a:t> </a:t>
            </a:r>
            <a:r>
              <a:rPr lang="ko-KR" altLang="en-US" dirty="0"/>
              <a:t>구성 요소</a:t>
            </a:r>
          </a:p>
        </p:txBody>
      </p:sp>
      <p:pic>
        <p:nvPicPr>
          <p:cNvPr id="5" name="그림 4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E7C4FF-37BD-AEDD-4662-E79D2034E4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478" y="3271594"/>
            <a:ext cx="3406108" cy="2924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7229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71CB1-38CB-2DD8-06BE-167165FF2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AF7B99-E411-AE82-C883-46A124EC0A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 </a:t>
            </a:r>
            <a:r>
              <a:rPr lang="en-US" altLang="ko-KR" dirty="0" err="1"/>
              <a:t>Streamlit</a:t>
            </a:r>
            <a:r>
              <a:rPr lang="en-US" altLang="ko-KR" dirty="0"/>
              <a:t> </a:t>
            </a:r>
            <a:r>
              <a:rPr lang="ko-KR" altLang="en-US" dirty="0"/>
              <a:t>구성 요소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6FF618-FC5E-0147-A4C4-2A381253F4E2}"/>
              </a:ext>
            </a:extLst>
          </p:cNvPr>
          <p:cNvSpPr txBox="1"/>
          <p:nvPr/>
        </p:nvSpPr>
        <p:spPr>
          <a:xfrm>
            <a:off x="625353" y="1136652"/>
            <a:ext cx="782648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import </a:t>
            </a:r>
            <a:r>
              <a:rPr lang="en-US" altLang="ko-KR" sz="2400" dirty="0" err="1"/>
              <a:t>streamlit</a:t>
            </a:r>
            <a:r>
              <a:rPr lang="en-US" altLang="ko-KR" sz="2400" dirty="0"/>
              <a:t> as </a:t>
            </a:r>
            <a:r>
              <a:rPr lang="en-US" altLang="ko-KR" sz="2400" dirty="0" err="1"/>
              <a:t>st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 err="1"/>
              <a:t>st.title</a:t>
            </a:r>
            <a:r>
              <a:rPr lang="en-US" altLang="ko-KR" sz="2400" dirty="0"/>
              <a:t>("</a:t>
            </a:r>
            <a:r>
              <a:rPr lang="ko-KR" altLang="en-US" sz="2400" dirty="0"/>
              <a:t>번호 리스트 예시</a:t>
            </a:r>
            <a:r>
              <a:rPr lang="en-US" altLang="ko-KR" sz="2400" dirty="0"/>
              <a:t>")</a:t>
            </a:r>
          </a:p>
          <a:p>
            <a:endParaRPr lang="en-US" altLang="ko-KR" sz="2400" dirty="0"/>
          </a:p>
          <a:p>
            <a:r>
              <a:rPr lang="en-US" altLang="ko-KR" sz="2400" dirty="0" err="1"/>
              <a:t>st.markdown</a:t>
            </a:r>
            <a:r>
              <a:rPr lang="en-US" altLang="ko-KR" sz="2400" dirty="0"/>
              <a:t>("""</a:t>
            </a:r>
          </a:p>
          <a:p>
            <a:r>
              <a:rPr lang="en-US" altLang="ko-KR" sz="2400" dirty="0"/>
              <a:t>1. </a:t>
            </a:r>
            <a:r>
              <a:rPr lang="ko-KR" altLang="en-US" sz="2400" dirty="0"/>
              <a:t>첫 번째 단계  </a:t>
            </a:r>
          </a:p>
          <a:p>
            <a:r>
              <a:rPr lang="en-US" altLang="ko-KR" sz="2400" dirty="0"/>
              <a:t>2. </a:t>
            </a:r>
            <a:r>
              <a:rPr lang="ko-KR" altLang="en-US" sz="2400" dirty="0"/>
              <a:t>두 번째 단계  </a:t>
            </a:r>
          </a:p>
          <a:p>
            <a:r>
              <a:rPr lang="ko-KR" altLang="en-US" sz="2400" dirty="0"/>
              <a:t>   </a:t>
            </a:r>
            <a:r>
              <a:rPr lang="en-US" altLang="ko-KR" sz="2400" dirty="0"/>
              <a:t>1. </a:t>
            </a:r>
            <a:r>
              <a:rPr lang="ko-KR" altLang="en-US" sz="2400" dirty="0"/>
              <a:t>하위 단계 </a:t>
            </a:r>
            <a:r>
              <a:rPr lang="en-US" altLang="ko-KR" sz="2400" dirty="0"/>
              <a:t>2-1  </a:t>
            </a:r>
          </a:p>
          <a:p>
            <a:r>
              <a:rPr lang="en-US" altLang="ko-KR" sz="2400" dirty="0"/>
              <a:t>   2. </a:t>
            </a:r>
            <a:r>
              <a:rPr lang="ko-KR" altLang="en-US" sz="2400" dirty="0"/>
              <a:t>하위 단계 </a:t>
            </a:r>
            <a:r>
              <a:rPr lang="en-US" altLang="ko-KR" sz="2400" dirty="0"/>
              <a:t>2-2  </a:t>
            </a:r>
          </a:p>
          <a:p>
            <a:r>
              <a:rPr lang="en-US" altLang="ko-KR" sz="2400" dirty="0"/>
              <a:t>3. </a:t>
            </a:r>
            <a:r>
              <a:rPr lang="ko-KR" altLang="en-US" sz="2400" dirty="0"/>
              <a:t>세 번째 단계</a:t>
            </a:r>
          </a:p>
          <a:p>
            <a:r>
              <a:rPr lang="en-US" altLang="ko-KR" sz="2400" dirty="0"/>
              <a:t>""")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424898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2914B-4E36-FCDD-1D47-BC56E94D4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177CF93-68AC-BC97-A5C0-E61C85E03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글머리 기호</a:t>
            </a:r>
            <a:endParaRPr lang="en-US" altLang="ko-KR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또는 * 을 사용하며</a:t>
            </a:r>
            <a:r>
              <a:rPr lang="en-US" altLang="ko-KR" dirty="0"/>
              <a:t>,</a:t>
            </a:r>
            <a:r>
              <a:rPr lang="ko-KR" altLang="en-US" dirty="0"/>
              <a:t> 공백 </a:t>
            </a:r>
            <a:r>
              <a:rPr lang="en-US" altLang="ko-KR" dirty="0"/>
              <a:t>2</a:t>
            </a:r>
            <a:r>
              <a:rPr lang="ko-KR" altLang="en-US" dirty="0"/>
              <a:t>칸으로 하위 항목 표현</a:t>
            </a:r>
            <a:endParaRPr lang="en-US" altLang="ko-KR" dirty="0"/>
          </a:p>
          <a:p>
            <a:pPr lvl="1" latinLnBrk="0"/>
            <a:r>
              <a:rPr lang="en-US" altLang="ko-KR" b="0" dirty="0" err="1"/>
              <a:t>st.markdown</a:t>
            </a:r>
            <a:r>
              <a:rPr lang="en-US" altLang="ko-KR" b="0" dirty="0"/>
              <a:t>(</a:t>
            </a:r>
            <a:br>
              <a:rPr lang="en-US" altLang="ko-KR" b="0" dirty="0"/>
            </a:br>
            <a:r>
              <a:rPr lang="en-US" altLang="ko-KR" b="0" dirty="0"/>
              <a:t>    "- </a:t>
            </a:r>
            <a:r>
              <a:rPr lang="ko-KR" altLang="en-US" b="0" dirty="0"/>
              <a:t>항목 </a:t>
            </a:r>
            <a:r>
              <a:rPr lang="en-US" altLang="ko-KR" b="0" dirty="0"/>
              <a:t>1\n”</a:t>
            </a:r>
            <a:br>
              <a:rPr lang="en-US" altLang="ko-KR" b="0" dirty="0"/>
            </a:br>
            <a:r>
              <a:rPr lang="en-US" altLang="ko-KR" b="0" dirty="0"/>
              <a:t>    "  - </a:t>
            </a:r>
            <a:r>
              <a:rPr lang="ko-KR" altLang="en-US" b="0" dirty="0"/>
              <a:t>하위 항목 </a:t>
            </a:r>
            <a:r>
              <a:rPr lang="en-US" altLang="ko-KR" b="0" dirty="0"/>
              <a:t>1-1\n”</a:t>
            </a:r>
            <a:br>
              <a:rPr lang="en-US" altLang="ko-KR" b="0" dirty="0"/>
            </a:br>
            <a:r>
              <a:rPr lang="en-US" altLang="ko-KR" b="0" dirty="0"/>
              <a:t>    "  - </a:t>
            </a:r>
            <a:r>
              <a:rPr lang="ko-KR" altLang="en-US" b="0" dirty="0"/>
              <a:t>하위 항목 </a:t>
            </a:r>
            <a:r>
              <a:rPr lang="en-US" altLang="ko-KR" b="0" dirty="0"/>
              <a:t>1-2\n”</a:t>
            </a:r>
            <a:br>
              <a:rPr lang="en-US" altLang="ko-KR" b="0" dirty="0"/>
            </a:br>
            <a:r>
              <a:rPr lang="en-US" altLang="ko-KR" b="0" dirty="0"/>
              <a:t>    "- </a:t>
            </a:r>
            <a:r>
              <a:rPr lang="ko-KR" altLang="en-US" b="0" dirty="0"/>
              <a:t>항목 </a:t>
            </a:r>
            <a:r>
              <a:rPr lang="en-US" altLang="ko-KR" b="0" dirty="0"/>
              <a:t>2”</a:t>
            </a:r>
            <a:br>
              <a:rPr lang="en-US" altLang="ko-KR" b="0" dirty="0"/>
            </a:br>
            <a:r>
              <a:rPr lang="en-US" altLang="ko-KR" b="0" dirty="0"/>
              <a:t>)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8B0075-54B3-5A07-C38B-C15791E235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 </a:t>
            </a:r>
            <a:r>
              <a:rPr lang="en-US" altLang="ko-KR" dirty="0" err="1"/>
              <a:t>Streamlit</a:t>
            </a:r>
            <a:r>
              <a:rPr lang="en-US" altLang="ko-KR" dirty="0"/>
              <a:t> </a:t>
            </a:r>
            <a:r>
              <a:rPr lang="ko-KR" altLang="en-US" dirty="0"/>
              <a:t>구성 요소</a:t>
            </a:r>
          </a:p>
        </p:txBody>
      </p:sp>
      <p:pic>
        <p:nvPicPr>
          <p:cNvPr id="5" name="그림 4" descr="텍스트, 스크린샷, 폰트, 블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416989-5324-7701-D4CB-BB21368C8E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739"/>
          <a:stretch>
            <a:fillRect/>
          </a:stretch>
        </p:blipFill>
        <p:spPr>
          <a:xfrm>
            <a:off x="6882263" y="3429000"/>
            <a:ext cx="3423789" cy="278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4510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AFB04-7B7E-3BDB-2D3E-E258186A0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3D3170-E451-D03F-2B34-3861B70858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 </a:t>
            </a:r>
            <a:r>
              <a:rPr lang="en-US" altLang="ko-KR" dirty="0" err="1"/>
              <a:t>Streamlit</a:t>
            </a:r>
            <a:r>
              <a:rPr lang="en-US" altLang="ko-KR" dirty="0"/>
              <a:t> </a:t>
            </a:r>
            <a:r>
              <a:rPr lang="ko-KR" altLang="en-US" dirty="0"/>
              <a:t>구성 요소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62C805-B5FF-7B41-D1E6-93B2C72DE70B}"/>
              </a:ext>
            </a:extLst>
          </p:cNvPr>
          <p:cNvSpPr txBox="1"/>
          <p:nvPr/>
        </p:nvSpPr>
        <p:spPr>
          <a:xfrm>
            <a:off x="651479" y="1228092"/>
            <a:ext cx="782648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import </a:t>
            </a:r>
            <a:r>
              <a:rPr lang="en-US" altLang="ko-KR" sz="2400" dirty="0" err="1"/>
              <a:t>streamlit</a:t>
            </a:r>
            <a:r>
              <a:rPr lang="en-US" altLang="ko-KR" sz="2400" dirty="0"/>
              <a:t> as </a:t>
            </a:r>
            <a:r>
              <a:rPr lang="en-US" altLang="ko-KR" sz="2400" dirty="0" err="1"/>
              <a:t>st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 err="1"/>
              <a:t>st.title</a:t>
            </a:r>
            <a:r>
              <a:rPr lang="en-US" altLang="ko-KR" sz="2400" dirty="0"/>
              <a:t>("</a:t>
            </a:r>
            <a:r>
              <a:rPr lang="ko-KR" altLang="en-US" sz="2400" dirty="0"/>
              <a:t>글머리 기호 예시</a:t>
            </a:r>
            <a:r>
              <a:rPr lang="en-US" altLang="ko-KR" sz="2400" dirty="0"/>
              <a:t>")</a:t>
            </a:r>
          </a:p>
          <a:p>
            <a:endParaRPr lang="en-US" altLang="ko-KR" sz="2400" dirty="0"/>
          </a:p>
          <a:p>
            <a:r>
              <a:rPr lang="en-US" altLang="ko-KR" sz="2400" dirty="0" err="1"/>
              <a:t>st.markdown</a:t>
            </a:r>
            <a:r>
              <a:rPr lang="en-US" altLang="ko-KR" sz="2400" dirty="0"/>
              <a:t>("""</a:t>
            </a:r>
          </a:p>
          <a:p>
            <a:r>
              <a:rPr lang="en-US" altLang="ko-KR" sz="2400" dirty="0"/>
              <a:t>- </a:t>
            </a:r>
            <a:r>
              <a:rPr lang="ko-KR" altLang="en-US" sz="2400" dirty="0"/>
              <a:t>첫 번째 항목  </a:t>
            </a:r>
          </a:p>
          <a:p>
            <a:r>
              <a:rPr lang="en-US" altLang="ko-KR" sz="2400" dirty="0"/>
              <a:t>- </a:t>
            </a:r>
            <a:r>
              <a:rPr lang="ko-KR" altLang="en-US" sz="2400" dirty="0"/>
              <a:t>두 번째 항목  </a:t>
            </a:r>
          </a:p>
          <a:p>
            <a:r>
              <a:rPr lang="ko-KR" altLang="en-US" sz="2400" dirty="0"/>
              <a:t>  </a:t>
            </a:r>
            <a:r>
              <a:rPr lang="en-US" altLang="ko-KR" sz="2400" dirty="0"/>
              <a:t>- </a:t>
            </a:r>
            <a:r>
              <a:rPr lang="ko-KR" altLang="en-US" sz="2400" dirty="0"/>
              <a:t>하위 항목 </a:t>
            </a:r>
            <a:r>
              <a:rPr lang="en-US" altLang="ko-KR" sz="2400" dirty="0"/>
              <a:t>1  </a:t>
            </a:r>
          </a:p>
          <a:p>
            <a:r>
              <a:rPr lang="en-US" altLang="ko-KR" sz="2400" dirty="0"/>
              <a:t>  - </a:t>
            </a:r>
            <a:r>
              <a:rPr lang="ko-KR" altLang="en-US" sz="2400" dirty="0"/>
              <a:t>하위 항목 </a:t>
            </a:r>
            <a:r>
              <a:rPr lang="en-US" altLang="ko-KR" sz="2400" dirty="0"/>
              <a:t>2  </a:t>
            </a:r>
          </a:p>
          <a:p>
            <a:r>
              <a:rPr lang="en-US" altLang="ko-KR" sz="2400" dirty="0"/>
              <a:t>- </a:t>
            </a:r>
            <a:r>
              <a:rPr lang="ko-KR" altLang="en-US" sz="2400" dirty="0"/>
              <a:t>세 번째 항목</a:t>
            </a:r>
          </a:p>
          <a:p>
            <a:r>
              <a:rPr lang="en-US" altLang="ko-KR" sz="2400" dirty="0"/>
              <a:t>""")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06384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45FE5-0376-4906-3987-0595A07D7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E2A6A03-DB65-7EB2-DC96-EDBB8A76D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기본 차트</a:t>
            </a:r>
            <a:endParaRPr lang="en-US" altLang="ko-KR" dirty="0"/>
          </a:p>
          <a:p>
            <a:pPr lvl="1"/>
            <a:r>
              <a:rPr lang="en-US" altLang="ko-KR" dirty="0"/>
              <a:t>matplotlib </a:t>
            </a:r>
            <a:r>
              <a:rPr lang="ko-KR" altLang="en-US" dirty="0"/>
              <a:t>기반의 간단한 차트 함수를 제공</a:t>
            </a:r>
          </a:p>
          <a:p>
            <a:pPr lvl="1"/>
            <a:r>
              <a:rPr lang="en-US" altLang="ko-KR" dirty="0" err="1"/>
              <a:t>st.line_chart</a:t>
            </a:r>
            <a:r>
              <a:rPr lang="en-US" altLang="ko-KR" dirty="0"/>
              <a:t>(</a:t>
            </a:r>
            <a:r>
              <a:rPr lang="en-US" altLang="ko-KR" dirty="0" err="1"/>
              <a:t>df</a:t>
            </a:r>
            <a:r>
              <a:rPr lang="en-US" altLang="ko-KR" dirty="0"/>
              <a:t>) : </a:t>
            </a:r>
            <a:r>
              <a:rPr lang="ko-KR" altLang="en-US" dirty="0"/>
              <a:t>선형 그래프</a:t>
            </a:r>
          </a:p>
          <a:p>
            <a:pPr lvl="1"/>
            <a:r>
              <a:rPr lang="en-US" altLang="ko-KR" dirty="0" err="1"/>
              <a:t>st.bar_chart</a:t>
            </a:r>
            <a:r>
              <a:rPr lang="en-US" altLang="ko-KR" dirty="0"/>
              <a:t>(</a:t>
            </a:r>
            <a:r>
              <a:rPr lang="en-US" altLang="ko-KR" dirty="0" err="1"/>
              <a:t>df</a:t>
            </a:r>
            <a:r>
              <a:rPr lang="en-US" altLang="ko-KR" dirty="0"/>
              <a:t>) : </a:t>
            </a:r>
            <a:r>
              <a:rPr lang="ko-KR" altLang="en-US" dirty="0"/>
              <a:t>막대 그래프</a:t>
            </a:r>
          </a:p>
          <a:p>
            <a:pPr lvl="1"/>
            <a:r>
              <a:rPr lang="en-US" altLang="ko-KR" dirty="0" err="1"/>
              <a:t>st.area_chart</a:t>
            </a:r>
            <a:r>
              <a:rPr lang="en-US" altLang="ko-KR" dirty="0"/>
              <a:t>(</a:t>
            </a:r>
            <a:r>
              <a:rPr lang="en-US" altLang="ko-KR" dirty="0" err="1"/>
              <a:t>df</a:t>
            </a:r>
            <a:r>
              <a:rPr lang="en-US" altLang="ko-KR" dirty="0"/>
              <a:t>) : </a:t>
            </a:r>
            <a:r>
              <a:rPr lang="ko-KR" altLang="en-US" dirty="0"/>
              <a:t>면적 그래프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013348-4114-2884-D91E-09BA6A2CDE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 </a:t>
            </a:r>
            <a:r>
              <a:rPr lang="en-US" altLang="ko-KR" dirty="0" err="1"/>
              <a:t>Streamlit</a:t>
            </a:r>
            <a:r>
              <a:rPr lang="en-US" altLang="ko-KR" dirty="0"/>
              <a:t> </a:t>
            </a:r>
            <a:r>
              <a:rPr lang="ko-KR" altLang="en-US" dirty="0"/>
              <a:t>구성 요소</a:t>
            </a:r>
          </a:p>
        </p:txBody>
      </p:sp>
    </p:spTree>
    <p:extLst>
      <p:ext uri="{BB962C8B-B14F-4D97-AF65-F5344CB8AC3E}">
        <p14:creationId xmlns:p14="http://schemas.microsoft.com/office/powerpoint/2010/main" val="23623976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67992-F5A9-EA28-B74D-7E2D0072C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AABD7F-359D-2EE4-7AA4-5132F4C776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 </a:t>
            </a:r>
            <a:r>
              <a:rPr lang="en-US" altLang="ko-KR" dirty="0" err="1"/>
              <a:t>Streamlit</a:t>
            </a:r>
            <a:r>
              <a:rPr lang="en-US" altLang="ko-KR" dirty="0"/>
              <a:t> </a:t>
            </a:r>
            <a:r>
              <a:rPr lang="ko-KR" altLang="en-US" dirty="0"/>
              <a:t>구성 요소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09857C-845F-7E0E-821F-477C9641D998}"/>
              </a:ext>
            </a:extLst>
          </p:cNvPr>
          <p:cNvSpPr txBox="1"/>
          <p:nvPr/>
        </p:nvSpPr>
        <p:spPr>
          <a:xfrm>
            <a:off x="1532076" y="1160421"/>
            <a:ext cx="782648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import </a:t>
            </a:r>
            <a:r>
              <a:rPr lang="en-US" altLang="ko-KR" sz="2400" dirty="0" err="1"/>
              <a:t>streamlit</a:t>
            </a:r>
            <a:r>
              <a:rPr lang="en-US" altLang="ko-KR" sz="2400" dirty="0"/>
              <a:t> as </a:t>
            </a:r>
            <a:r>
              <a:rPr lang="en-US" altLang="ko-KR" sz="2400" dirty="0" err="1"/>
              <a:t>st</a:t>
            </a:r>
            <a:endParaRPr lang="en-US" altLang="ko-KR" sz="2400" dirty="0"/>
          </a:p>
          <a:p>
            <a:r>
              <a:rPr lang="en-US" altLang="ko-KR" sz="2400" dirty="0"/>
              <a:t>import </a:t>
            </a:r>
            <a:r>
              <a:rPr lang="en-US" altLang="ko-KR" sz="2400" dirty="0" err="1"/>
              <a:t>matplotlib.pyplot</a:t>
            </a:r>
            <a:r>
              <a:rPr lang="en-US" altLang="ko-KR" sz="2400" dirty="0"/>
              <a:t> as </a:t>
            </a:r>
            <a:r>
              <a:rPr lang="en-US" altLang="ko-KR" sz="2400" dirty="0" err="1"/>
              <a:t>plt</a:t>
            </a:r>
            <a:endParaRPr lang="en-US" altLang="ko-KR" sz="2400" dirty="0"/>
          </a:p>
          <a:p>
            <a:r>
              <a:rPr lang="en-US" altLang="ko-KR" sz="2400" dirty="0"/>
              <a:t>import </a:t>
            </a:r>
            <a:r>
              <a:rPr lang="en-US" altLang="ko-KR" sz="2400" dirty="0" err="1"/>
              <a:t>numpy</a:t>
            </a:r>
            <a:r>
              <a:rPr lang="en-US" altLang="ko-KR" sz="2400" dirty="0"/>
              <a:t> as np</a:t>
            </a:r>
          </a:p>
          <a:p>
            <a:endParaRPr lang="en-US" altLang="ko-KR" sz="2400" dirty="0"/>
          </a:p>
          <a:p>
            <a:r>
              <a:rPr lang="en-US" altLang="ko-KR" sz="2400" dirty="0"/>
              <a:t># </a:t>
            </a:r>
            <a:r>
              <a:rPr lang="ko-KR" altLang="en-US" sz="2400" dirty="0"/>
              <a:t>예시 데이터</a:t>
            </a:r>
          </a:p>
          <a:p>
            <a:r>
              <a:rPr lang="en-US" altLang="ko-KR" sz="2400" dirty="0"/>
              <a:t>x = </a:t>
            </a:r>
            <a:r>
              <a:rPr lang="en-US" altLang="ko-KR" sz="2400" dirty="0" err="1"/>
              <a:t>np.linspace</a:t>
            </a:r>
            <a:r>
              <a:rPr lang="en-US" altLang="ko-KR" sz="2400" dirty="0"/>
              <a:t>(0, 10, 50)</a:t>
            </a:r>
          </a:p>
          <a:p>
            <a:r>
              <a:rPr lang="en-US" altLang="ko-KR" sz="2400" dirty="0"/>
              <a:t>y1 = </a:t>
            </a:r>
            <a:r>
              <a:rPr lang="en-US" altLang="ko-KR" sz="2400" dirty="0" err="1"/>
              <a:t>np.sin</a:t>
            </a:r>
            <a:r>
              <a:rPr lang="en-US" altLang="ko-KR" sz="2400" dirty="0"/>
              <a:t>(x)</a:t>
            </a:r>
          </a:p>
          <a:p>
            <a:r>
              <a:rPr lang="en-US" altLang="ko-KR" sz="2400" dirty="0"/>
              <a:t>y2 = </a:t>
            </a:r>
            <a:r>
              <a:rPr lang="en-US" altLang="ko-KR" sz="2400" dirty="0" err="1"/>
              <a:t>np.cos</a:t>
            </a:r>
            <a:r>
              <a:rPr lang="en-US" altLang="ko-KR" sz="2400" dirty="0"/>
              <a:t>(x)</a:t>
            </a:r>
          </a:p>
          <a:p>
            <a:endParaRPr lang="en-US" altLang="ko-KR" sz="2400" dirty="0"/>
          </a:p>
          <a:p>
            <a:r>
              <a:rPr lang="en-US" altLang="ko-KR" sz="2400" dirty="0"/>
              <a:t>fig1, ax1 = </a:t>
            </a:r>
            <a:r>
              <a:rPr lang="en-US" altLang="ko-KR" sz="2400" dirty="0" err="1"/>
              <a:t>plt.subplots</a:t>
            </a:r>
            <a:r>
              <a:rPr lang="en-US" altLang="ko-KR" sz="2400" dirty="0"/>
              <a:t>()</a:t>
            </a:r>
          </a:p>
          <a:p>
            <a:r>
              <a:rPr lang="en-US" altLang="ko-KR" sz="2400" dirty="0"/>
              <a:t>ax1.plot(x, y1, label='sin(x)')</a:t>
            </a:r>
          </a:p>
          <a:p>
            <a:r>
              <a:rPr lang="en-US" altLang="ko-KR" sz="2400" dirty="0"/>
              <a:t>ax1.plot(x, y2, label='cos(x)')</a:t>
            </a:r>
          </a:p>
          <a:p>
            <a:r>
              <a:rPr lang="en-US" altLang="ko-KR" sz="2400" dirty="0"/>
              <a:t>ax1.legend()</a:t>
            </a:r>
          </a:p>
          <a:p>
            <a:r>
              <a:rPr lang="en-US" altLang="ko-KR" sz="2400" dirty="0" err="1"/>
              <a:t>st.pyplot</a:t>
            </a:r>
            <a:r>
              <a:rPr lang="en-US" altLang="ko-KR" sz="2400" dirty="0"/>
              <a:t>(fig1)</a:t>
            </a:r>
          </a:p>
          <a:p>
            <a:endParaRPr lang="en-US" altLang="ko-KR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C8C87E-9045-A3C1-8248-DC33E9BCD433}"/>
              </a:ext>
            </a:extLst>
          </p:cNvPr>
          <p:cNvSpPr txBox="1"/>
          <p:nvPr/>
        </p:nvSpPr>
        <p:spPr>
          <a:xfrm>
            <a:off x="6061030" y="3613173"/>
            <a:ext cx="459889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fig2, ax2 = </a:t>
            </a:r>
            <a:r>
              <a:rPr lang="en-US" altLang="ko-KR" sz="2400" dirty="0" err="1"/>
              <a:t>plt.subplots</a:t>
            </a:r>
            <a:r>
              <a:rPr lang="en-US" altLang="ko-KR" sz="2400" dirty="0"/>
              <a:t>()</a:t>
            </a:r>
          </a:p>
          <a:p>
            <a:r>
              <a:rPr lang="en-US" altLang="ko-KR" sz="2400" dirty="0"/>
              <a:t>ax2.bar(["A", "B", "C"], [10, 25, 15])</a:t>
            </a:r>
          </a:p>
          <a:p>
            <a:r>
              <a:rPr lang="en-US" altLang="ko-KR" sz="2400" dirty="0" err="1"/>
              <a:t>st.pyplot</a:t>
            </a:r>
            <a:r>
              <a:rPr lang="en-US" altLang="ko-KR" sz="2400" dirty="0"/>
              <a:t>(fig2)</a:t>
            </a:r>
          </a:p>
          <a:p>
            <a:endParaRPr lang="en-US" altLang="ko-KR" sz="2400" dirty="0"/>
          </a:p>
          <a:p>
            <a:r>
              <a:rPr lang="en-US" altLang="ko-KR" sz="2400" dirty="0"/>
              <a:t>fig3, ax3 = </a:t>
            </a:r>
            <a:r>
              <a:rPr lang="en-US" altLang="ko-KR" sz="2400" dirty="0" err="1"/>
              <a:t>plt.subplots</a:t>
            </a:r>
            <a:r>
              <a:rPr lang="en-US" altLang="ko-KR" sz="2400" dirty="0"/>
              <a:t>()</a:t>
            </a:r>
          </a:p>
          <a:p>
            <a:r>
              <a:rPr lang="en-US" altLang="ko-KR" sz="2400" dirty="0"/>
              <a:t>ax3.scatter(x, y1, color='red')</a:t>
            </a:r>
          </a:p>
          <a:p>
            <a:r>
              <a:rPr lang="en-US" altLang="ko-KR" sz="2400" dirty="0" err="1"/>
              <a:t>st.pyplot</a:t>
            </a:r>
            <a:r>
              <a:rPr lang="en-US" altLang="ko-KR" sz="2400" dirty="0"/>
              <a:t>(fig3)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111100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D9ECC-6F7C-3227-59E1-5BE5129B5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C97A85B-C548-60D7-4DD4-B41ECACC2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Altair</a:t>
            </a:r>
            <a:r>
              <a:rPr lang="ko-KR" altLang="en-US" dirty="0"/>
              <a:t> 차트</a:t>
            </a:r>
            <a:endParaRPr lang="en-US" altLang="ko-KR" dirty="0"/>
          </a:p>
          <a:p>
            <a:pPr lvl="1"/>
            <a:r>
              <a:rPr lang="ko-KR" altLang="en-US" dirty="0"/>
              <a:t>데이터를 연결해 표현하는 시각화 라이브러리</a:t>
            </a:r>
          </a:p>
          <a:p>
            <a:pPr lvl="1"/>
            <a:r>
              <a:rPr lang="en-US" altLang="ko-KR" dirty="0" err="1"/>
              <a:t>st.altair_chart</a:t>
            </a:r>
            <a:r>
              <a:rPr lang="en-US" altLang="ko-KR" dirty="0"/>
              <a:t>(</a:t>
            </a:r>
            <a:r>
              <a:rPr lang="en-US" altLang="ko-KR" dirty="0" err="1"/>
              <a:t>df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ko-KR" altLang="en-US" dirty="0" err="1"/>
              <a:t>처럼</a:t>
            </a:r>
            <a:r>
              <a:rPr lang="ko-KR" altLang="en-US" dirty="0"/>
              <a:t> 데이터 프레임 시각화</a:t>
            </a:r>
            <a:endParaRPr lang="en-US" altLang="ko-KR" dirty="0"/>
          </a:p>
          <a:p>
            <a:pPr lvl="1"/>
            <a:r>
              <a:rPr lang="ko-KR" altLang="en-US" dirty="0"/>
              <a:t>단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pivot </a:t>
            </a:r>
            <a:r>
              <a:rPr lang="ko-KR" altLang="en-US" dirty="0"/>
              <a:t>형태가 아닌 </a:t>
            </a:r>
            <a:r>
              <a:rPr lang="en-US" altLang="ko-KR" dirty="0"/>
              <a:t>unpivot </a:t>
            </a:r>
            <a:r>
              <a:rPr lang="ko-KR" altLang="en-US" dirty="0"/>
              <a:t>형태를 사용해야 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9C8D00-C6FD-E34B-1EB4-8250A2DC85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 </a:t>
            </a:r>
            <a:r>
              <a:rPr lang="en-US" altLang="ko-KR" dirty="0" err="1"/>
              <a:t>Streamlit</a:t>
            </a:r>
            <a:r>
              <a:rPr lang="en-US" altLang="ko-KR" dirty="0"/>
              <a:t> </a:t>
            </a:r>
            <a:r>
              <a:rPr lang="ko-KR" altLang="en-US" dirty="0"/>
              <a:t>구성 요소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E23CC05-4BE3-B543-FC9A-0137E9170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456647"/>
              </p:ext>
            </p:extLst>
          </p:nvPr>
        </p:nvGraphicFramePr>
        <p:xfrm>
          <a:off x="2079588" y="3762375"/>
          <a:ext cx="4016412" cy="248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804">
                  <a:extLst>
                    <a:ext uri="{9D8B030D-6E8A-4147-A177-3AD203B41FA5}">
                      <a16:colId xmlns:a16="http://schemas.microsoft.com/office/drawing/2014/main" val="1801725828"/>
                    </a:ext>
                  </a:extLst>
                </a:gridCol>
                <a:gridCol w="1338804">
                  <a:extLst>
                    <a:ext uri="{9D8B030D-6E8A-4147-A177-3AD203B41FA5}">
                      <a16:colId xmlns:a16="http://schemas.microsoft.com/office/drawing/2014/main" val="3932001044"/>
                    </a:ext>
                  </a:extLst>
                </a:gridCol>
                <a:gridCol w="1338804">
                  <a:extLst>
                    <a:ext uri="{9D8B030D-6E8A-4147-A177-3AD203B41FA5}">
                      <a16:colId xmlns:a16="http://schemas.microsoft.com/office/drawing/2014/main" val="1374575530"/>
                    </a:ext>
                  </a:extLst>
                </a:gridCol>
              </a:tblGrid>
              <a:tr h="621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date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teamA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teamB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304665"/>
                  </a:ext>
                </a:extLst>
              </a:tr>
              <a:tr h="621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1/1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2999829"/>
                  </a:ext>
                </a:extLst>
              </a:tr>
              <a:tr h="621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1/2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097552"/>
                  </a:ext>
                </a:extLst>
              </a:tr>
              <a:tr h="621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1/3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04950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33C841A-18A2-07A7-D405-3958A2366AE0}"/>
              </a:ext>
            </a:extLst>
          </p:cNvPr>
          <p:cNvSpPr txBox="1"/>
          <p:nvPr/>
        </p:nvSpPr>
        <p:spPr>
          <a:xfrm>
            <a:off x="3328596" y="6305263"/>
            <a:ext cx="12183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/>
              <a:t>pivot</a:t>
            </a:r>
            <a:endParaRPr lang="ko-KR" altLang="en-US" sz="32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31F8543-1391-1019-076A-1E03BD2295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023170"/>
              </p:ext>
            </p:extLst>
          </p:nvPr>
        </p:nvGraphicFramePr>
        <p:xfrm>
          <a:off x="6384460" y="3762375"/>
          <a:ext cx="401641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804">
                  <a:extLst>
                    <a:ext uri="{9D8B030D-6E8A-4147-A177-3AD203B41FA5}">
                      <a16:colId xmlns:a16="http://schemas.microsoft.com/office/drawing/2014/main" val="386843753"/>
                    </a:ext>
                  </a:extLst>
                </a:gridCol>
                <a:gridCol w="1338804">
                  <a:extLst>
                    <a:ext uri="{9D8B030D-6E8A-4147-A177-3AD203B41FA5}">
                      <a16:colId xmlns:a16="http://schemas.microsoft.com/office/drawing/2014/main" val="2362953346"/>
                    </a:ext>
                  </a:extLst>
                </a:gridCol>
                <a:gridCol w="1338804">
                  <a:extLst>
                    <a:ext uri="{9D8B030D-6E8A-4147-A177-3AD203B41FA5}">
                      <a16:colId xmlns:a16="http://schemas.microsoft.com/office/drawing/2014/main" val="3814522455"/>
                    </a:ext>
                  </a:extLst>
                </a:gridCol>
              </a:tblGrid>
              <a:tr h="355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date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team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sales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2345640"/>
                  </a:ext>
                </a:extLst>
              </a:tr>
              <a:tr h="355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1/1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5584154"/>
                  </a:ext>
                </a:extLst>
              </a:tr>
              <a:tr h="355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1/1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0881745"/>
                  </a:ext>
                </a:extLst>
              </a:tr>
              <a:tr h="355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1/2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4837678"/>
                  </a:ext>
                </a:extLst>
              </a:tr>
              <a:tr h="355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1/2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4210455"/>
                  </a:ext>
                </a:extLst>
              </a:tr>
              <a:tr h="355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1/3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6135814"/>
                  </a:ext>
                </a:extLst>
              </a:tr>
              <a:tr h="355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1/3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772225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A9C8FA6-3CFB-4765-CC53-1EE8F003F21E}"/>
              </a:ext>
            </a:extLst>
          </p:cNvPr>
          <p:cNvSpPr txBox="1"/>
          <p:nvPr/>
        </p:nvSpPr>
        <p:spPr>
          <a:xfrm>
            <a:off x="7645105" y="6273226"/>
            <a:ext cx="16447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/>
              <a:t>unpivot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3262087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7878E-DC85-21BB-229F-D2CF7FAD2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5F0DDF-AB18-31D9-7755-0089B6EFE8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 </a:t>
            </a:r>
            <a:r>
              <a:rPr lang="en-US" altLang="ko-KR" dirty="0" err="1"/>
              <a:t>Streamlit</a:t>
            </a:r>
            <a:r>
              <a:rPr lang="en-US" altLang="ko-KR" dirty="0"/>
              <a:t> </a:t>
            </a:r>
            <a:r>
              <a:rPr lang="ko-KR" altLang="en-US" dirty="0"/>
              <a:t>구성 요소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06C58F-952C-1503-8C0F-72FEAEECA501}"/>
              </a:ext>
            </a:extLst>
          </p:cNvPr>
          <p:cNvSpPr txBox="1"/>
          <p:nvPr/>
        </p:nvSpPr>
        <p:spPr>
          <a:xfrm>
            <a:off x="925798" y="797019"/>
            <a:ext cx="7826487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import </a:t>
            </a:r>
            <a:r>
              <a:rPr lang="en-US" altLang="ko-KR" sz="2400" dirty="0" err="1"/>
              <a:t>altair</a:t>
            </a:r>
            <a:r>
              <a:rPr lang="en-US" altLang="ko-KR" sz="2400" dirty="0"/>
              <a:t> as alt</a:t>
            </a:r>
          </a:p>
          <a:p>
            <a:r>
              <a:rPr lang="en-US" altLang="ko-KR" sz="2400" dirty="0"/>
              <a:t>import pandas as pd</a:t>
            </a:r>
          </a:p>
          <a:p>
            <a:r>
              <a:rPr lang="en-US" altLang="ko-KR" sz="2400" dirty="0"/>
              <a:t>import </a:t>
            </a:r>
            <a:r>
              <a:rPr lang="en-US" altLang="ko-KR" sz="2400" dirty="0" err="1"/>
              <a:t>streamlit</a:t>
            </a:r>
            <a:r>
              <a:rPr lang="en-US" altLang="ko-KR" sz="2400" dirty="0"/>
              <a:t> as </a:t>
            </a:r>
            <a:r>
              <a:rPr lang="en-US" altLang="ko-KR" sz="2400" dirty="0" err="1"/>
              <a:t>st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r>
              <a:rPr lang="en-US" altLang="ko-KR" sz="2400" dirty="0"/>
              <a:t>    "date": ["1/1", "1/1", "1/2", "1/2", "1/3", "1/3"],</a:t>
            </a:r>
          </a:p>
          <a:p>
            <a:r>
              <a:rPr lang="en-US" altLang="ko-KR" sz="2400" dirty="0"/>
              <a:t>    "team": ["A", "B", "A", "B", "A", "B"],</a:t>
            </a:r>
          </a:p>
          <a:p>
            <a:r>
              <a:rPr lang="en-US" altLang="ko-KR" sz="2400" dirty="0"/>
              <a:t>    "sales": [100, 80, 120, 95, 90, 110]</a:t>
            </a:r>
          </a:p>
          <a:p>
            <a:r>
              <a:rPr lang="en-US" altLang="ko-KR" sz="2400" dirty="0"/>
              <a:t>})</a:t>
            </a:r>
          </a:p>
          <a:p>
            <a:r>
              <a:rPr lang="en-US" altLang="ko-KR" sz="2400" dirty="0"/>
              <a:t>chart = </a:t>
            </a:r>
            <a:r>
              <a:rPr lang="en-US" altLang="ko-KR" sz="2400" dirty="0" err="1"/>
              <a:t>alt.Chart</a:t>
            </a:r>
            <a:r>
              <a:rPr lang="en-US" altLang="ko-KR" sz="2400" dirty="0"/>
              <a:t>(</a:t>
            </a:r>
            <a:r>
              <a:rPr lang="en-US" altLang="ko-KR" sz="2400" dirty="0" err="1"/>
              <a:t>df</a:t>
            </a:r>
            <a:r>
              <a:rPr lang="en-US" altLang="ko-KR" sz="2400" dirty="0"/>
              <a:t>).</a:t>
            </a:r>
            <a:r>
              <a:rPr lang="en-US" altLang="ko-KR" sz="2400" dirty="0" err="1"/>
              <a:t>mark_line</a:t>
            </a:r>
            <a:r>
              <a:rPr lang="en-US" altLang="ko-KR" sz="2400" dirty="0"/>
              <a:t>().encode(</a:t>
            </a:r>
          </a:p>
          <a:p>
            <a:r>
              <a:rPr lang="en-US" altLang="ko-KR" sz="2400" dirty="0"/>
              <a:t>    x="date",</a:t>
            </a:r>
          </a:p>
          <a:p>
            <a:r>
              <a:rPr lang="en-US" altLang="ko-KR" sz="2400" dirty="0"/>
              <a:t>    y="sales",</a:t>
            </a:r>
          </a:p>
          <a:p>
            <a:r>
              <a:rPr lang="en-US" altLang="ko-KR" sz="2400" dirty="0"/>
              <a:t>    color="team"</a:t>
            </a:r>
          </a:p>
          <a:p>
            <a:r>
              <a:rPr lang="en-US" altLang="ko-KR" sz="2400" dirty="0"/>
              <a:t>)</a:t>
            </a:r>
          </a:p>
          <a:p>
            <a:endParaRPr lang="en-US" altLang="ko-KR" sz="2400" dirty="0"/>
          </a:p>
          <a:p>
            <a:r>
              <a:rPr lang="en-US" altLang="ko-KR" sz="2400" dirty="0" err="1"/>
              <a:t>st.altair_chart</a:t>
            </a:r>
            <a:r>
              <a:rPr lang="en-US" altLang="ko-KR" sz="2400" dirty="0"/>
              <a:t>(chart, </a:t>
            </a:r>
            <a:r>
              <a:rPr lang="en-US" altLang="ko-KR" sz="2400" dirty="0" err="1"/>
              <a:t>use_container_width</a:t>
            </a:r>
            <a:r>
              <a:rPr lang="en-US" altLang="ko-KR" sz="2400" dirty="0"/>
              <a:t>=True)</a:t>
            </a:r>
          </a:p>
        </p:txBody>
      </p:sp>
    </p:spTree>
    <p:extLst>
      <p:ext uri="{BB962C8B-B14F-4D97-AF65-F5344CB8AC3E}">
        <p14:creationId xmlns:p14="http://schemas.microsoft.com/office/powerpoint/2010/main" val="41149422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84FC6-89E9-FB70-0E3A-03BCA6F0E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9167A45-671E-6205-F8DA-6AAB545E4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Plotly</a:t>
            </a:r>
            <a:r>
              <a:rPr lang="ko-KR" altLang="en-US" dirty="0"/>
              <a:t> 차트</a:t>
            </a:r>
            <a:endParaRPr lang="en-US" altLang="ko-KR" dirty="0"/>
          </a:p>
          <a:p>
            <a:pPr lvl="1"/>
            <a:r>
              <a:rPr lang="en-US" altLang="ko-KR" dirty="0" err="1"/>
              <a:t>Plotly</a:t>
            </a:r>
            <a:r>
              <a:rPr lang="ko-KR" altLang="en-US" dirty="0"/>
              <a:t>는 인터랙티브</a:t>
            </a:r>
            <a:r>
              <a:rPr lang="en-US" altLang="ko-KR" dirty="0"/>
              <a:t> </a:t>
            </a:r>
            <a:r>
              <a:rPr lang="ko-KR" altLang="en-US" dirty="0"/>
              <a:t>시각화를 지원하는 라이브러리</a:t>
            </a:r>
          </a:p>
          <a:p>
            <a:pPr lvl="1"/>
            <a:r>
              <a:rPr lang="ko-KR" altLang="en-US" dirty="0"/>
              <a:t>마우스 오버</a:t>
            </a:r>
            <a:r>
              <a:rPr lang="en-US" altLang="ko-KR" dirty="0"/>
              <a:t>, </a:t>
            </a:r>
            <a:r>
              <a:rPr lang="ko-KR" altLang="en-US" dirty="0"/>
              <a:t>확대</a:t>
            </a:r>
            <a:r>
              <a:rPr lang="en-US" altLang="ko-KR" dirty="0"/>
              <a:t>/</a:t>
            </a:r>
            <a:r>
              <a:rPr lang="ko-KR" altLang="en-US" dirty="0"/>
              <a:t>축소</a:t>
            </a:r>
            <a:r>
              <a:rPr lang="en-US" altLang="ko-KR" dirty="0"/>
              <a:t>, </a:t>
            </a:r>
            <a:r>
              <a:rPr lang="ko-KR" altLang="en-US" dirty="0"/>
              <a:t>클릭 등 상호작용이 가능한 그래프 생성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030364-9525-7824-205F-AA39FDD59B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 </a:t>
            </a:r>
            <a:r>
              <a:rPr lang="en-US" altLang="ko-KR" dirty="0" err="1"/>
              <a:t>Streamlit</a:t>
            </a:r>
            <a:r>
              <a:rPr lang="en-US" altLang="ko-KR" dirty="0"/>
              <a:t> </a:t>
            </a:r>
            <a:r>
              <a:rPr lang="ko-KR" altLang="en-US" dirty="0"/>
              <a:t>구성 요소</a:t>
            </a:r>
          </a:p>
        </p:txBody>
      </p:sp>
      <p:pic>
        <p:nvPicPr>
          <p:cNvPr id="7" name="그림 6" descr="텍스트, 스크린샷, 원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4687E5-BE86-5EC6-C7DD-13059586C6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850" y="3429000"/>
            <a:ext cx="5895121" cy="303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9273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1B91D-9C9C-3440-7D8D-870DF2280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F92030-3A38-2D8E-EF7A-5FCA6EF1A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 </a:t>
            </a:r>
            <a:r>
              <a:rPr lang="en-US" altLang="ko-KR" dirty="0" err="1"/>
              <a:t>Streamlit</a:t>
            </a:r>
            <a:r>
              <a:rPr lang="en-US" altLang="ko-KR" dirty="0"/>
              <a:t> </a:t>
            </a:r>
            <a:r>
              <a:rPr lang="ko-KR" altLang="en-US" dirty="0"/>
              <a:t>구성 요소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C5F0BF-F630-E19B-1304-9BCC4CC9945F}"/>
              </a:ext>
            </a:extLst>
          </p:cNvPr>
          <p:cNvSpPr txBox="1"/>
          <p:nvPr/>
        </p:nvSpPr>
        <p:spPr>
          <a:xfrm>
            <a:off x="808233" y="966836"/>
            <a:ext cx="782648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import </a:t>
            </a:r>
            <a:r>
              <a:rPr lang="en-US" altLang="ko-KR" sz="2400" dirty="0" err="1"/>
              <a:t>plotly.express</a:t>
            </a:r>
            <a:r>
              <a:rPr lang="en-US" altLang="ko-KR" sz="2400" dirty="0"/>
              <a:t> as </a:t>
            </a:r>
            <a:r>
              <a:rPr lang="en-US" altLang="ko-KR" sz="2400" dirty="0" err="1"/>
              <a:t>px</a:t>
            </a:r>
            <a:endParaRPr lang="en-US" altLang="ko-KR" sz="2400" dirty="0"/>
          </a:p>
          <a:p>
            <a:r>
              <a:rPr lang="en-US" altLang="ko-KR" sz="2400" dirty="0"/>
              <a:t>import </a:t>
            </a:r>
            <a:r>
              <a:rPr lang="en-US" altLang="ko-KR" sz="2400" dirty="0" err="1"/>
              <a:t>streamlit</a:t>
            </a:r>
            <a:r>
              <a:rPr lang="en-US" altLang="ko-KR" sz="2400" dirty="0"/>
              <a:t> as </a:t>
            </a:r>
            <a:r>
              <a:rPr lang="en-US" altLang="ko-KR" sz="2400" dirty="0" err="1"/>
              <a:t>st</a:t>
            </a:r>
            <a:endParaRPr lang="en-US" altLang="ko-KR" sz="2400" dirty="0"/>
          </a:p>
          <a:p>
            <a:r>
              <a:rPr lang="en-US" altLang="ko-KR" sz="2400" dirty="0"/>
              <a:t>import pandas as pd</a:t>
            </a:r>
          </a:p>
          <a:p>
            <a:endParaRPr lang="en-US" altLang="ko-KR" sz="2400" dirty="0"/>
          </a:p>
          <a:p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r>
              <a:rPr lang="en-US" altLang="ko-KR" sz="2400" dirty="0"/>
              <a:t>    "nation": ["</a:t>
            </a:r>
            <a:r>
              <a:rPr lang="ko-KR" altLang="en-US" sz="2400" dirty="0"/>
              <a:t>한국</a:t>
            </a:r>
            <a:r>
              <a:rPr lang="en-US" altLang="ko-KR" sz="2400" dirty="0"/>
              <a:t>", "</a:t>
            </a:r>
            <a:r>
              <a:rPr lang="ko-KR" altLang="en-US" sz="2400" dirty="0"/>
              <a:t>미국</a:t>
            </a:r>
            <a:r>
              <a:rPr lang="en-US" altLang="ko-KR" sz="2400" dirty="0"/>
              <a:t>", "</a:t>
            </a:r>
            <a:r>
              <a:rPr lang="ko-KR" altLang="en-US" sz="2400" dirty="0"/>
              <a:t>일본</a:t>
            </a:r>
            <a:r>
              <a:rPr lang="en-US" altLang="ko-KR" sz="2400" dirty="0"/>
              <a:t>", "</a:t>
            </a:r>
            <a:r>
              <a:rPr lang="ko-KR" altLang="en-US" sz="2400" dirty="0"/>
              <a:t>중국</a:t>
            </a:r>
            <a:r>
              <a:rPr lang="en-US" altLang="ko-KR" sz="2400" dirty="0"/>
              <a:t>", "</a:t>
            </a:r>
            <a:r>
              <a:rPr lang="ko-KR" altLang="en-US" sz="2400" dirty="0"/>
              <a:t>독일</a:t>
            </a:r>
            <a:r>
              <a:rPr lang="en-US" altLang="ko-KR" sz="2400" dirty="0"/>
              <a:t>"],</a:t>
            </a:r>
          </a:p>
          <a:p>
            <a:r>
              <a:rPr lang="en-US" altLang="ko-KR" sz="2400" dirty="0"/>
              <a:t>    "gold": [29, 19, 27, 18, 5],</a:t>
            </a:r>
          </a:p>
          <a:p>
            <a:r>
              <a:rPr lang="en-US" altLang="ko-KR" sz="2400" dirty="0"/>
              <a:t>    "silver": [3, 41, 14, 32, 11],</a:t>
            </a:r>
          </a:p>
          <a:p>
            <a:r>
              <a:rPr lang="en-US" altLang="ko-KR" sz="2400" dirty="0"/>
              <a:t>    "bronze": [9, 33, 17, 18, 16]</a:t>
            </a:r>
          </a:p>
          <a:p>
            <a:r>
              <a:rPr lang="en-US" altLang="ko-KR" sz="2400" dirty="0"/>
              <a:t>})</a:t>
            </a:r>
          </a:p>
          <a:p>
            <a:endParaRPr lang="en-US" altLang="ko-KR" sz="2400" dirty="0"/>
          </a:p>
          <a:p>
            <a:r>
              <a:rPr lang="en-US" altLang="ko-KR" sz="2400" dirty="0"/>
              <a:t>fig = </a:t>
            </a:r>
            <a:r>
              <a:rPr lang="en-US" altLang="ko-KR" sz="2400" dirty="0" err="1"/>
              <a:t>px.pie</a:t>
            </a:r>
            <a:r>
              <a:rPr lang="en-US" altLang="ko-KR" sz="2400" dirty="0"/>
              <a:t>(</a:t>
            </a:r>
            <a:r>
              <a:rPr lang="en-US" altLang="ko-KR" sz="2400" dirty="0" err="1"/>
              <a:t>df</a:t>
            </a:r>
            <a:r>
              <a:rPr lang="en-US" altLang="ko-KR" sz="2400" dirty="0"/>
              <a:t>, names='nation', values='gold',</a:t>
            </a:r>
          </a:p>
          <a:p>
            <a:r>
              <a:rPr lang="en-US" altLang="ko-KR" sz="2400" dirty="0"/>
              <a:t>             title='</a:t>
            </a:r>
            <a:r>
              <a:rPr lang="ko-KR" altLang="en-US" sz="2400" dirty="0"/>
              <a:t>올림픽 양궁 금메달 현황</a:t>
            </a:r>
            <a:r>
              <a:rPr lang="en-US" altLang="ko-KR" sz="2400" dirty="0"/>
              <a:t>', hole=.3)</a:t>
            </a:r>
          </a:p>
          <a:p>
            <a:r>
              <a:rPr lang="en-US" altLang="ko-KR" sz="2400" dirty="0" err="1"/>
              <a:t>st.plotly_chart</a:t>
            </a:r>
            <a:r>
              <a:rPr lang="en-US" altLang="ko-KR" sz="2400" dirty="0"/>
              <a:t>(fig)</a:t>
            </a:r>
          </a:p>
        </p:txBody>
      </p:sp>
    </p:spTree>
    <p:extLst>
      <p:ext uri="{BB962C8B-B14F-4D97-AF65-F5344CB8AC3E}">
        <p14:creationId xmlns:p14="http://schemas.microsoft.com/office/powerpoint/2010/main" val="23288606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4B4ED-EE99-8F63-2575-4C79395C9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94C288B-72BF-B880-A412-BF108759A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Streamlit</a:t>
            </a:r>
            <a:r>
              <a:rPr lang="en-US" altLang="ko-KR" dirty="0"/>
              <a:t> </a:t>
            </a:r>
            <a:r>
              <a:rPr lang="ko-KR" altLang="en-US" dirty="0"/>
              <a:t>정리</a:t>
            </a:r>
          </a:p>
          <a:p>
            <a:pPr lvl="1"/>
            <a:r>
              <a:rPr lang="en-US" altLang="ko-KR" dirty="0"/>
              <a:t>Python </a:t>
            </a:r>
            <a:r>
              <a:rPr lang="ko-KR" altLang="en-US" dirty="0"/>
              <a:t>기반의 데이터 시각화 웹 프레임워크</a:t>
            </a:r>
          </a:p>
          <a:p>
            <a:pPr lvl="1"/>
            <a:r>
              <a:rPr lang="ko-KR" altLang="en-US" dirty="0"/>
              <a:t>웹 기술 없이 간단하게 상호작용 대시보드 제작 가능</a:t>
            </a:r>
          </a:p>
          <a:p>
            <a:pPr lvl="1"/>
            <a:r>
              <a:rPr lang="en-US" altLang="ko-KR" dirty="0" err="1"/>
              <a:t>st.write</a:t>
            </a:r>
            <a:r>
              <a:rPr lang="en-US" altLang="ko-KR" dirty="0"/>
              <a:t>, </a:t>
            </a:r>
            <a:r>
              <a:rPr lang="en-US" altLang="ko-KR" dirty="0" err="1"/>
              <a:t>st.dataframe</a:t>
            </a:r>
            <a:r>
              <a:rPr lang="en-US" altLang="ko-KR" dirty="0"/>
              <a:t>, </a:t>
            </a:r>
            <a:r>
              <a:rPr lang="en-US" altLang="ko-KR" dirty="0" err="1"/>
              <a:t>st.line_chart</a:t>
            </a:r>
            <a:r>
              <a:rPr lang="en-US" altLang="ko-KR" dirty="0"/>
              <a:t>, </a:t>
            </a:r>
            <a:r>
              <a:rPr lang="en-US" altLang="ko-KR" dirty="0" err="1"/>
              <a:t>st.altair_chart</a:t>
            </a:r>
            <a:r>
              <a:rPr lang="en-US" altLang="ko-KR" dirty="0"/>
              <a:t>, </a:t>
            </a:r>
            <a:r>
              <a:rPr lang="en-US" altLang="ko-KR" dirty="0" err="1"/>
              <a:t>st.plotly_chart</a:t>
            </a:r>
            <a:r>
              <a:rPr lang="en-US" altLang="ko-KR" dirty="0"/>
              <a:t> </a:t>
            </a:r>
            <a:r>
              <a:rPr lang="ko-KR" altLang="en-US" dirty="0"/>
              <a:t>등 다양하게 활용</a:t>
            </a:r>
          </a:p>
          <a:p>
            <a:pPr lvl="1"/>
            <a:r>
              <a:rPr lang="en-US" altLang="ko-KR" dirty="0"/>
              <a:t>.</a:t>
            </a:r>
            <a:r>
              <a:rPr lang="en-US" altLang="ko-KR" dirty="0" err="1"/>
              <a:t>py</a:t>
            </a:r>
            <a:r>
              <a:rPr lang="en-US" altLang="ko-KR" dirty="0"/>
              <a:t> </a:t>
            </a:r>
            <a:r>
              <a:rPr lang="ko-KR" altLang="en-US" dirty="0"/>
              <a:t>파일을 저장 후 </a:t>
            </a:r>
            <a:r>
              <a:rPr lang="en-US" altLang="ko-KR" dirty="0" err="1"/>
              <a:t>streamlit</a:t>
            </a:r>
            <a:r>
              <a:rPr lang="en-US" altLang="ko-KR" dirty="0"/>
              <a:t> run </a:t>
            </a:r>
            <a:r>
              <a:rPr lang="ko-KR" altLang="en-US" dirty="0"/>
              <a:t>파일명</a:t>
            </a:r>
            <a:r>
              <a:rPr lang="en-US" altLang="ko-KR" dirty="0"/>
              <a:t>.</a:t>
            </a:r>
            <a:r>
              <a:rPr lang="en-US" altLang="ko-KR" dirty="0" err="1"/>
              <a:t>py</a:t>
            </a:r>
            <a:r>
              <a:rPr lang="en-US" altLang="ko-KR" dirty="0"/>
              <a:t> </a:t>
            </a:r>
            <a:r>
              <a:rPr lang="ko-KR" altLang="en-US" dirty="0" err="1"/>
              <a:t>으로</a:t>
            </a:r>
            <a:r>
              <a:rPr lang="ko-KR" altLang="en-US" dirty="0"/>
              <a:t> 실행</a:t>
            </a:r>
          </a:p>
          <a:p>
            <a:pPr lvl="1"/>
            <a:r>
              <a:rPr lang="en-US" altLang="ko-KR" dirty="0"/>
              <a:t>Altair, </a:t>
            </a:r>
            <a:r>
              <a:rPr lang="en-US" altLang="ko-KR" dirty="0" err="1"/>
              <a:t>Plotly</a:t>
            </a:r>
            <a:r>
              <a:rPr lang="ko-KR" altLang="en-US" dirty="0"/>
              <a:t> 등 외부 라이브러리와 손쉽게 연동 가능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A50784-7DB1-8066-E9B9-344D921720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6.</a:t>
            </a:r>
            <a:r>
              <a:rPr lang="ko-KR" altLang="en-US" dirty="0"/>
              <a:t> 정리</a:t>
            </a:r>
          </a:p>
        </p:txBody>
      </p:sp>
    </p:spTree>
    <p:extLst>
      <p:ext uri="{BB962C8B-B14F-4D97-AF65-F5344CB8AC3E}">
        <p14:creationId xmlns:p14="http://schemas.microsoft.com/office/powerpoint/2010/main" val="17718157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577C7-C5DB-C12E-94FC-DA1CDFC02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내용 개체 틀 8">
            <a:extLst>
              <a:ext uri="{FF2B5EF4-FFF2-40B4-BE49-F238E27FC236}">
                <a16:creationId xmlns:a16="http://schemas.microsoft.com/office/drawing/2014/main" id="{7D9CDB7A-DC05-B2D6-643B-5A7F5694F8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8919972"/>
              </p:ext>
            </p:extLst>
          </p:nvPr>
        </p:nvGraphicFramePr>
        <p:xfrm>
          <a:off x="482600" y="927100"/>
          <a:ext cx="11160124" cy="276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4168">
                  <a:extLst>
                    <a:ext uri="{9D8B030D-6E8A-4147-A177-3AD203B41FA5}">
                      <a16:colId xmlns:a16="http://schemas.microsoft.com/office/drawing/2014/main" val="878348052"/>
                    </a:ext>
                  </a:extLst>
                </a:gridCol>
                <a:gridCol w="8845956">
                  <a:extLst>
                    <a:ext uri="{9D8B030D-6E8A-4147-A177-3AD203B41FA5}">
                      <a16:colId xmlns:a16="http://schemas.microsoft.com/office/drawing/2014/main" val="24699054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구분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링크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6209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공식 사이트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hlinkClick r:id="rId2"/>
                        </a:rPr>
                        <a:t>https://streamlit.io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5679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공식 문서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linkClick r:id="rId3"/>
                        </a:rPr>
                        <a:t>https://docs.streamlit.io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1268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GitHub </a:t>
                      </a:r>
                      <a:r>
                        <a:rPr lang="ko-KR" altLang="en-US" dirty="0"/>
                        <a:t>저장소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linkClick r:id="rId4"/>
                        </a:rPr>
                        <a:t>https://github.com/streamlit/streamlit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0065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https://</a:t>
                      </a:r>
                      <a:r>
                        <a:rPr lang="en-US" altLang="ko-KR" dirty="0" err="1"/>
                        <a:t>velog.io</a:t>
                      </a:r>
                      <a:r>
                        <a:rPr lang="en-US" altLang="ko-KR" dirty="0"/>
                        <a:t>/@sy508011/%EC%8A%A4%ED%8A%B8%EB%A6%BC%EB%A6%BF-1-%EC%84%A4%EC%B9%98-%EB%B0%8F-%EC%8B%A4%ED%96%89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68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https://</a:t>
                      </a:r>
                      <a:r>
                        <a:rPr lang="en-US" altLang="ko-KR" dirty="0" err="1"/>
                        <a:t>velog.io</a:t>
                      </a:r>
                      <a:r>
                        <a:rPr lang="en-US" altLang="ko-KR" dirty="0"/>
                        <a:t>/@</a:t>
                      </a:r>
                      <a:r>
                        <a:rPr lang="en-US" altLang="ko-KR" dirty="0" err="1"/>
                        <a:t>euisuk-chung</a:t>
                      </a:r>
                      <a:r>
                        <a:rPr lang="en-US" altLang="ko-KR" dirty="0"/>
                        <a:t>/</a:t>
                      </a:r>
                      <a:r>
                        <a:rPr lang="en-US" altLang="ko-KR" dirty="0" err="1"/>
                        <a:t>Streamlit</a:t>
                      </a:r>
                      <a:r>
                        <a:rPr lang="en-US" altLang="ko-KR" dirty="0"/>
                        <a:t>-%EC%86%8C%EA%B0%9C-%EB%B0%8F-%ED%99%9C%EC%9A%A9-%EA%B0%80%EC%9D%B4%EB%93%9C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44731"/>
                  </a:ext>
                </a:extLst>
              </a:tr>
            </a:tbl>
          </a:graphicData>
        </a:graphic>
      </p:graphicFrame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3995B7-2B24-448A-A217-4595083BE7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7.</a:t>
            </a:r>
            <a:r>
              <a:rPr lang="ko-KR" altLang="en-US" dirty="0"/>
              <a:t> 참고 자료</a:t>
            </a:r>
          </a:p>
        </p:txBody>
      </p:sp>
    </p:spTree>
    <p:extLst>
      <p:ext uri="{BB962C8B-B14F-4D97-AF65-F5344CB8AC3E}">
        <p14:creationId xmlns:p14="http://schemas.microsoft.com/office/powerpoint/2010/main" val="14753074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2243572" y="2959532"/>
            <a:ext cx="7704856" cy="938937"/>
          </a:xfrm>
        </p:spPr>
        <p:txBody>
          <a:bodyPr>
            <a:normAutofit fontScale="92500" lnSpcReduction="20000"/>
          </a:bodyPr>
          <a:lstStyle/>
          <a:p>
            <a:pPr lvl="0">
              <a:defRPr/>
            </a:pPr>
            <a:r>
              <a:rPr lang="en-US" altLang="ko-KR" sz="6900"/>
              <a:t>Q&amp;A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21342</TotalTime>
  <Words>2016</Words>
  <Application>Microsoft Macintosh PowerPoint</Application>
  <PresentationFormat>와이드스크린</PresentationFormat>
  <Paragraphs>336</Paragraphs>
  <Slides>38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38</vt:i4>
      </vt:variant>
    </vt:vector>
  </HeadingPairs>
  <TitlesOfParts>
    <vt:vector size="48" baseType="lpstr">
      <vt:lpstr>나눔고딕</vt:lpstr>
      <vt:lpstr>나눔고딕 ExtraBold</vt:lpstr>
      <vt:lpstr>맑은 고딕</vt:lpstr>
      <vt:lpstr>함초롬돋움</vt:lpstr>
      <vt:lpstr>Arial</vt:lpstr>
      <vt:lpstr>Calibri</vt:lpstr>
      <vt:lpstr>Calibri Light</vt:lpstr>
      <vt:lpstr>Wingdings</vt:lpstr>
      <vt:lpstr>Office 테마</vt:lpstr>
      <vt:lpstr>Office 2013 - 2022 테마</vt:lpstr>
      <vt:lpstr>데이터 시각화 프레임워크: Streamlit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이동현</dc:creator>
  <cp:lastModifiedBy>junjin0004@gmail.com</cp:lastModifiedBy>
  <cp:revision>811</cp:revision>
  <dcterms:created xsi:type="dcterms:W3CDTF">2018-02-13T00:42:25Z</dcterms:created>
  <dcterms:modified xsi:type="dcterms:W3CDTF">2026-03-16T02:16:48Z</dcterms:modified>
</cp:coreProperties>
</file>