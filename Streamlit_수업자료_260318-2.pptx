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0" r:id="rId1"/>
  </p:sldMasterIdLst>
  <p:notesMasterIdLst>
    <p:notesMasterId r:id="rId38"/>
  </p:notesMasterIdLst>
  <p:handoutMasterIdLst>
    <p:handoutMasterId r:id="rId39"/>
  </p:handoutMasterIdLst>
  <p:sldIdLst>
    <p:sldId id="1574" r:id="rId2"/>
    <p:sldId id="1501" r:id="rId3"/>
    <p:sldId id="1628" r:id="rId4"/>
    <p:sldId id="1627" r:id="rId5"/>
    <p:sldId id="1631" r:id="rId6"/>
    <p:sldId id="1692" r:id="rId7"/>
    <p:sldId id="1699" r:id="rId8"/>
    <p:sldId id="1700" r:id="rId9"/>
    <p:sldId id="1704" r:id="rId10"/>
    <p:sldId id="1701" r:id="rId11"/>
    <p:sldId id="1702" r:id="rId12"/>
    <p:sldId id="1703" r:id="rId13"/>
    <p:sldId id="1690" r:id="rId14"/>
    <p:sldId id="1705" r:id="rId15"/>
    <p:sldId id="1706" r:id="rId16"/>
    <p:sldId id="1707" r:id="rId17"/>
    <p:sldId id="1708" r:id="rId18"/>
    <p:sldId id="1709" r:id="rId19"/>
    <p:sldId id="1710" r:id="rId20"/>
    <p:sldId id="1719" r:id="rId21"/>
    <p:sldId id="1722" r:id="rId22"/>
    <p:sldId id="1723" r:id="rId23"/>
    <p:sldId id="1725" r:id="rId24"/>
    <p:sldId id="1727" r:id="rId25"/>
    <p:sldId id="1724" r:id="rId26"/>
    <p:sldId id="1726" r:id="rId27"/>
    <p:sldId id="1712" r:id="rId28"/>
    <p:sldId id="1713" r:id="rId29"/>
    <p:sldId id="1714" r:id="rId30"/>
    <p:sldId id="1715" r:id="rId31"/>
    <p:sldId id="1711" r:id="rId32"/>
    <p:sldId id="1716" r:id="rId33"/>
    <p:sldId id="1717" r:id="rId34"/>
    <p:sldId id="1718" r:id="rId35"/>
    <p:sldId id="1668" r:id="rId36"/>
    <p:sldId id="162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성준 권" initials="성권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보통 스타일 3 - 강조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 autoAdjust="0"/>
    <p:restoredTop sz="94881" autoAdjust="0"/>
  </p:normalViewPr>
  <p:slideViewPr>
    <p:cSldViewPr snapToGrid="0">
      <p:cViewPr varScale="1">
        <p:scale>
          <a:sx n="117" d="100"/>
          <a:sy n="117" d="100"/>
        </p:scale>
        <p:origin x="280" y="18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104" d="100"/>
          <a:sy n="104" d="100"/>
        </p:scale>
        <p:origin x="2610" y="90"/>
      </p:cViewPr>
      <p:guideLst>
        <p:guide orient="horz" pos="2880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65C5B5CA-62C4-44D2-B6A6-C969A46DC8B6}" type="datetime1">
              <a:rPr lang="ko-KR" altLang="en-US"/>
              <a:pPr lvl="0">
                <a:defRPr/>
              </a:pPr>
              <a:t>2025. 11. 3.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1182F0FB-6EE0-4400-AC72-55DD3AE51868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9639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나눔고딕"/>
                <a:ea typeface="나눔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나눔고딕"/>
                <a:ea typeface="나눔고딕"/>
              </a:defRPr>
            </a:lvl1pPr>
          </a:lstStyle>
          <a:p>
            <a:pPr lvl="0">
              <a:defRPr/>
            </a:pPr>
            <a:fld id="{6B8D96F4-0440-4337-857B-2B273C55436A}" type="datetime1">
              <a:rPr lang="ko-KR" altLang="en-US"/>
              <a:pPr lvl="0">
                <a:defRPr/>
              </a:pPr>
              <a:t>2025. 11. 3.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나눔고딕"/>
                <a:ea typeface="나눔고딕"/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나눔고딕"/>
                <a:ea typeface="나눔고딕"/>
              </a:defRPr>
            </a:lvl1pPr>
          </a:lstStyle>
          <a:p>
            <a:pPr lvl="0">
              <a:defRPr/>
            </a:pPr>
            <a:fld id="{75CE14F3-4869-4E26-9B94-20A0F4003C5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07431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/>
        <a:ea typeface="나눔고딕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/>
        <a:ea typeface="나눔고딕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/>
        <a:ea typeface="나눔고딕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/>
        <a:ea typeface="나눔고딕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/>
        <a:ea typeface="나눔고딕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>
            <a:extLst>
              <a:ext uri="{FF2B5EF4-FFF2-40B4-BE49-F238E27FC236}">
                <a16:creationId xmlns:a16="http://schemas.microsoft.com/office/drawing/2014/main" id="{A56E77A6-8ADD-4EB1-8F4F-C3B85B33B8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970" y="2701674"/>
            <a:ext cx="7886700" cy="584775"/>
          </a:xfrm>
          <a:prstGeom prst="rect">
            <a:avLst/>
          </a:prstGeom>
        </p:spPr>
        <p:txBody>
          <a:bodyPr/>
          <a:lstStyle>
            <a:lvl1pPr algn="ctr">
              <a:defRPr sz="4400" b="1"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2B587B-58A1-4AEC-8108-68E4DFC3DAF5}"/>
              </a:ext>
            </a:extLst>
          </p:cNvPr>
          <p:cNvSpPr txBox="1"/>
          <p:nvPr userDrawn="1"/>
        </p:nvSpPr>
        <p:spPr>
          <a:xfrm>
            <a:off x="1104313" y="5302931"/>
            <a:ext cx="69353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spc="0" dirty="0">
                <a:ln>
                  <a:solidFill>
                    <a:srgbClr val="1564B0">
                      <a:alpha val="20000"/>
                    </a:srgbClr>
                  </a:solidFill>
                </a:ln>
                <a:solidFill>
                  <a:srgbClr val="53535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한국외국어대학교 </a:t>
            </a:r>
            <a:r>
              <a:rPr lang="en-US" altLang="ko-KR" sz="2000" b="1" spc="0" dirty="0">
                <a:ln>
                  <a:solidFill>
                    <a:srgbClr val="1564B0">
                      <a:alpha val="20000"/>
                    </a:srgbClr>
                  </a:solidFill>
                </a:ln>
                <a:solidFill>
                  <a:srgbClr val="53535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Social Science &amp; AI</a:t>
            </a:r>
            <a:r>
              <a:rPr lang="ko-KR" altLang="en-US" sz="2000" b="1" spc="0" dirty="0">
                <a:ln>
                  <a:solidFill>
                    <a:srgbClr val="1564B0">
                      <a:alpha val="20000"/>
                    </a:srgbClr>
                  </a:solidFill>
                </a:ln>
                <a:solidFill>
                  <a:srgbClr val="53535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융합학부</a:t>
            </a:r>
            <a:endParaRPr lang="en-US" altLang="ko-KR" sz="2000" b="1" spc="0" dirty="0">
              <a:ln>
                <a:solidFill>
                  <a:srgbClr val="1564B0">
                    <a:alpha val="20000"/>
                  </a:srgbClr>
                </a:solidFill>
              </a:ln>
              <a:solidFill>
                <a:srgbClr val="535353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endParaRPr lang="en-US" altLang="ko-KR" sz="2000" b="1" spc="-150" dirty="0">
              <a:ln>
                <a:solidFill>
                  <a:srgbClr val="1564B0">
                    <a:alpha val="20000"/>
                  </a:srgbClr>
                </a:solidFill>
              </a:ln>
              <a:solidFill>
                <a:srgbClr val="535353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  <a:p>
            <a:pPr algn="ctr"/>
            <a:r>
              <a:rPr lang="ko-KR" altLang="en-US" sz="2000" b="1" spc="-150" dirty="0">
                <a:ln>
                  <a:solidFill>
                    <a:srgbClr val="1564B0">
                      <a:alpha val="20000"/>
                    </a:srgbClr>
                  </a:solidFill>
                </a:ln>
                <a:solidFill>
                  <a:srgbClr val="535353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Times New Roman" panose="02020603050405020304" pitchFamily="18" charset="0"/>
              </a:rPr>
              <a:t>이  동  현</a:t>
            </a:r>
            <a:endParaRPr lang="en-US" altLang="ko-KR" sz="2000" b="1" spc="-150" dirty="0">
              <a:ln>
                <a:solidFill>
                  <a:srgbClr val="1564B0">
                    <a:alpha val="20000"/>
                  </a:srgbClr>
                </a:solidFill>
              </a:ln>
              <a:solidFill>
                <a:srgbClr val="535353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18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5E921BF-BE86-46B4-9755-1F9CAB16288F}"/>
              </a:ext>
            </a:extLst>
          </p:cNvPr>
          <p:cNvSpPr/>
          <p:nvPr userDrawn="1"/>
        </p:nvSpPr>
        <p:spPr>
          <a:xfrm>
            <a:off x="6" y="422"/>
            <a:ext cx="9143994" cy="609118"/>
          </a:xfrm>
          <a:prstGeom prst="rect">
            <a:avLst/>
          </a:prstGeom>
          <a:solidFill>
            <a:srgbClr val="018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고딕" panose="020D0604000000000000" pitchFamily="50" charset="-127"/>
            </a:endParaRPr>
          </a:p>
        </p:txBody>
      </p:sp>
      <p:sp>
        <p:nvSpPr>
          <p:cNvPr id="5" name="텍스트 개체 틀 2">
            <a:extLst>
              <a:ext uri="{FF2B5EF4-FFF2-40B4-BE49-F238E27FC236}">
                <a16:creationId xmlns:a16="http://schemas.microsoft.com/office/drawing/2014/main" id="{7947FAD5-AB89-4DD5-8C62-05791481AE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826" y="65268"/>
            <a:ext cx="8210550" cy="479425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목차</a:t>
            </a: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4DCC147A-4B31-496C-8741-B66620C20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370277" cy="567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7150" indent="-228600" algn="l" defTabSz="914400" rtl="0" eaLnBrk="1" latinLnBrk="1" hangingPunct="1">
              <a:lnSpc>
                <a:spcPct val="10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5143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9715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4287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18859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842117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173429BF-EE6B-492C-809E-0615BC118F77}"/>
              </a:ext>
            </a:extLst>
          </p:cNvPr>
          <p:cNvSpPr/>
          <p:nvPr userDrawn="1"/>
        </p:nvSpPr>
        <p:spPr>
          <a:xfrm>
            <a:off x="6" y="422"/>
            <a:ext cx="9143994" cy="609118"/>
          </a:xfrm>
          <a:prstGeom prst="rect">
            <a:avLst/>
          </a:prstGeom>
          <a:solidFill>
            <a:srgbClr val="018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ea typeface="나눔고딕" panose="020D0604000000000000" pitchFamily="50" charset="-127"/>
            </a:endParaRPr>
          </a:p>
        </p:txBody>
      </p:sp>
      <p:sp>
        <p:nvSpPr>
          <p:cNvPr id="6" name="텍스트 개체 틀 2">
            <a:extLst>
              <a:ext uri="{FF2B5EF4-FFF2-40B4-BE49-F238E27FC236}">
                <a16:creationId xmlns:a16="http://schemas.microsoft.com/office/drawing/2014/main" id="{16F0E1CD-B5F6-49F5-AFE9-127CB47DB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370277" cy="5670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571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5143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2pPr>
            <a:lvl3pPr marL="9715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3pPr>
            <a:lvl4pPr marL="14287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4pPr>
            <a:lvl5pPr marL="1885950" indent="-228600" algn="l" defTabSz="914400" rtl="0" eaLnBrk="1" latinLnBrk="1" hangingPunct="1">
              <a:lnSpc>
                <a:spcPct val="150000"/>
              </a:lnSpc>
              <a:buFont typeface="Wingdings" panose="05000000000000000000" pitchFamily="2" charset="2"/>
              <a:buChar char="ü"/>
              <a:defRPr lang="ko-KR" altLang="en-US" sz="2800" b="1" kern="1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60D76F-6877-41E9-997D-9138E3A2B7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826" y="65268"/>
            <a:ext cx="8210550" cy="479425"/>
          </a:xfrm>
          <a:prstGeom prst="rect">
            <a:avLst/>
          </a:prstGeom>
        </p:spPr>
        <p:txBody>
          <a:bodyPr anchor="ctr"/>
          <a:lstStyle>
            <a:lvl1pPr marL="0" indent="0">
              <a:buFontTx/>
              <a:buNone/>
              <a:defRPr b="1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</p:spTree>
    <p:extLst>
      <p:ext uri="{BB962C8B-B14F-4D97-AF65-F5344CB8AC3E}">
        <p14:creationId xmlns:p14="http://schemas.microsoft.com/office/powerpoint/2010/main" val="59492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CA3935-8C30-4930-AD7C-B0D880871E1E}"/>
              </a:ext>
            </a:extLst>
          </p:cNvPr>
          <p:cNvSpPr txBox="1"/>
          <p:nvPr userDrawn="1"/>
        </p:nvSpPr>
        <p:spPr>
          <a:xfrm>
            <a:off x="764897" y="2893869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본 콘텐츠는 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 산업혁명 혁신선도대학 사업의 지원으로 제작되었습니다</a:t>
            </a:r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A48130-655B-4FBA-B27A-0CEE457B84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437" y="3551233"/>
            <a:ext cx="3131784" cy="1043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650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사용자 지정 레이아웃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모서리가 둥근 직사각형 5"/>
          <p:cNvSpPr/>
          <p:nvPr userDrawn="1"/>
        </p:nvSpPr>
        <p:spPr>
          <a:xfrm>
            <a:off x="323057" y="404813"/>
            <a:ext cx="8497887" cy="6048375"/>
          </a:xfrm>
          <a:prstGeom prst="roundRect">
            <a:avLst>
              <a:gd name="adj" fmla="val 5013"/>
            </a:avLst>
          </a:prstGeom>
          <a:solidFill>
            <a:schemeClr val="accent1">
              <a:alpha val="84710"/>
            </a:schemeClr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>
              <a:solidFill>
                <a:schemeClr val="accent6"/>
              </a:solidFill>
            </a:endParaRPr>
          </a:p>
        </p:txBody>
      </p:sp>
      <p:sp>
        <p:nvSpPr>
          <p:cNvPr id="7" name="텍스트 개체 틀 6"/>
          <p:cNvSpPr>
            <a:spLocks noGrp="1"/>
          </p:cNvSpPr>
          <p:nvPr userDrawn="1"/>
        </p:nvSpPr>
        <p:spPr>
          <a:xfrm>
            <a:off x="719101" y="3412604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8" name="텍스트 개체 틀 6"/>
          <p:cNvSpPr>
            <a:spLocks noGrp="1"/>
          </p:cNvSpPr>
          <p:nvPr userDrawn="1"/>
        </p:nvSpPr>
        <p:spPr>
          <a:xfrm>
            <a:off x="719101" y="2348880"/>
            <a:ext cx="7704856" cy="93893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Blip>
                <a:blip r:embed="rId2"/>
              </a:buBlip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3"/>
          </p:nvPr>
        </p:nvSpPr>
        <p:spPr>
          <a:xfrm>
            <a:off x="719572" y="3412604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48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719572" y="2348880"/>
            <a:ext cx="7704856" cy="938937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5400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2924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280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3" r:id="rId2"/>
    <p:sldLayoutId id="2147483682" r:id="rId3"/>
    <p:sldLayoutId id="2147483684" r:id="rId4"/>
    <p:sldLayoutId id="2147483688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2.png"/><Relationship Id="rId4" Type="http://schemas.openxmlformats.org/officeDocument/2006/relationships/image" Target="../media/image27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hyperlink" Target="https://streamlit.io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streamlit/streamlit" TargetMode="Externa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AA4A3-8621-00AC-8AC5-EDB2869A4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69085-5568-80DB-4611-BB595D224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46503"/>
            <a:ext cx="7886700" cy="128249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dirty="0"/>
              <a:t>데이터 시각화 프레임워크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 err="1"/>
              <a:t>Streamlit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528F6F-20F6-E4C9-2185-E06F4689AA10}"/>
              </a:ext>
            </a:extLst>
          </p:cNvPr>
          <p:cNvSpPr txBox="1"/>
          <p:nvPr/>
        </p:nvSpPr>
        <p:spPr>
          <a:xfrm>
            <a:off x="5163266" y="6581001"/>
            <a:ext cx="398073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sz="1200" i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Copyrightⓒ2025 By Donghyun Lee. All right reserved.</a:t>
            </a:r>
            <a:endParaRPr lang="ko-KR" altLang="en-US" sz="1200" i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6032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1.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en-US" altLang="ko-KR" dirty="0"/>
              <a:t>Cloud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</a:p>
          <a:p>
            <a:pPr lvl="0">
              <a:defRPr/>
            </a:pPr>
            <a:r>
              <a:rPr lang="en-US" altLang="ko-KR" dirty="0"/>
              <a:t>2.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en-US" altLang="ko-KR" dirty="0"/>
              <a:t>Cloud</a:t>
            </a:r>
            <a:r>
              <a:rPr lang="ko-KR" altLang="en-US" dirty="0"/>
              <a:t> 사용방법</a:t>
            </a:r>
          </a:p>
          <a:p>
            <a:pPr lvl="0">
              <a:defRPr/>
            </a:pPr>
            <a:r>
              <a:rPr lang="en-US" altLang="ko-KR" dirty="0"/>
              <a:t>3. </a:t>
            </a:r>
            <a:r>
              <a:rPr lang="en" altLang="ko-KR" dirty="0" err="1"/>
              <a:t>Streamlit</a:t>
            </a:r>
            <a:r>
              <a:rPr lang="en" altLang="ko-KR" dirty="0"/>
              <a:t> </a:t>
            </a:r>
            <a:r>
              <a:rPr lang="en-US" altLang="ko-KR" dirty="0"/>
              <a:t>Cloud</a:t>
            </a:r>
            <a:r>
              <a:rPr lang="ko-KR" altLang="en-US" dirty="0"/>
              <a:t>에서 배포</a:t>
            </a:r>
          </a:p>
          <a:p>
            <a:pPr lvl="0" algn="just">
              <a:defRPr/>
            </a:pPr>
            <a:r>
              <a:rPr lang="en-US" altLang="ko-KR" dirty="0"/>
              <a:t>4. </a:t>
            </a:r>
            <a:r>
              <a:rPr lang="ko-KR" altLang="en-US" dirty="0"/>
              <a:t>페이지 수정 및 자동 반영</a:t>
            </a:r>
            <a:endParaRPr lang="en-US" altLang="ko-KR" dirty="0"/>
          </a:p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  <a:p>
            <a:pPr lvl="0" algn="just">
              <a:defRPr/>
            </a:pPr>
            <a:r>
              <a:rPr lang="en-US" altLang="ko-KR" dirty="0"/>
              <a:t>6.</a:t>
            </a:r>
            <a:r>
              <a:rPr lang="ko-KR" altLang="en-US" dirty="0"/>
              <a:t> 페이지 기능 확인</a:t>
            </a:r>
          </a:p>
          <a:p>
            <a:pPr lvl="0" algn="just">
              <a:defRPr/>
            </a:pP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E49FFF-E13E-4BE0-B13F-434240E26D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</p:spTree>
    <p:extLst>
      <p:ext uri="{BB962C8B-B14F-4D97-AF65-F5344CB8AC3E}">
        <p14:creationId xmlns:p14="http://schemas.microsoft.com/office/powerpoint/2010/main" val="74525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 lnSpcReduction="10000"/>
          </a:bodyPr>
          <a:lstStyle/>
          <a:p>
            <a:pPr lvl="0">
              <a:defRPr/>
            </a:pP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en" altLang="ko-KR"/>
              <a:t> </a:t>
            </a:r>
            <a:r>
              <a:rPr lang="ko-KR" altLang="ko-KR"/>
              <a:t>란</a:t>
            </a:r>
            <a:r>
              <a:rPr lang="en-US" altLang="ko-KR"/>
              <a:t>?</a:t>
            </a:r>
          </a:p>
          <a:p>
            <a:pPr lvl="1" algn="just" latinLnBrk="0">
              <a:defRPr/>
            </a:pPr>
            <a:r>
              <a:rPr lang="en-US" altLang="ko-KR"/>
              <a:t>Streamlit 앱을 웹 상에서 실행하고 공유할 수 있는 플랫폼</a:t>
            </a:r>
          </a:p>
          <a:p>
            <a:pPr lvl="1" algn="just" latinLnBrk="0">
              <a:defRPr/>
            </a:pPr>
            <a:r>
              <a:rPr lang="en-US" altLang="ko-KR"/>
              <a:t>별도의 서버 설정이나 웹 프로그래밍 없이 Python 코드만으로 배포 가능</a:t>
            </a:r>
          </a:p>
          <a:p>
            <a:pPr lvl="1" algn="just" latinLnBrk="0">
              <a:defRPr/>
            </a:pPr>
            <a:r>
              <a:rPr lang="en-US" altLang="ko-KR"/>
              <a:t>GitHub에 올린 코드를 자동으로 가져와</a:t>
            </a:r>
            <a:r>
              <a:rPr lang="ko-KR" altLang="en-US"/>
              <a:t> </a:t>
            </a:r>
            <a:r>
              <a:rPr lang="en-US" altLang="ko-KR"/>
              <a:t>웹 애플리케이션으로 실행</a:t>
            </a:r>
          </a:p>
          <a:p>
            <a:pPr lvl="1" algn="just" latinLnBrk="0">
              <a:defRPr/>
            </a:pPr>
            <a:r>
              <a:rPr lang="en-US" altLang="ko-KR"/>
              <a:t>배포 완</a:t>
            </a:r>
            <a:r>
              <a:rPr lang="ko-KR" altLang="en-US"/>
              <a:t>료</a:t>
            </a:r>
            <a:r>
              <a:rPr lang="en-US" altLang="ko-KR"/>
              <a:t> 후 고유한 URL이 생성되어 누구나 접속 및 공유 가능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란</a:t>
            </a:r>
            <a:r>
              <a:rPr lang="en-US" altLang="ko-KR"/>
              <a:t>?</a:t>
            </a:r>
            <a:endParaRPr lang="ko-KR" altLang="en-US"/>
          </a:p>
        </p:txBody>
      </p:sp>
      <p:pic>
        <p:nvPicPr>
          <p:cNvPr id="4" name="Picture 2" descr="Streamlit logo on light background">
            <a:extLst>
              <a:ext uri="{FF2B5EF4-FFF2-40B4-BE49-F238E27FC236}">
                <a16:creationId xmlns:a16="http://schemas.microsoft.com/office/drawing/2014/main" id="{DF52BA64-72A5-0D57-77A9-D217DD5B73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002" y="927100"/>
            <a:ext cx="2863870" cy="795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4865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lvl="0" algn="just">
              <a:defRPr/>
            </a:pPr>
            <a:r>
              <a:rPr lang="en" altLang="ko-KR"/>
              <a:t>Streamlit</a:t>
            </a:r>
            <a:r>
              <a:rPr lang="ko-KR" altLang="en-US"/>
              <a:t> 의 필요성</a:t>
            </a:r>
          </a:p>
          <a:p>
            <a:pPr lvl="1" algn="just">
              <a:defRPr/>
            </a:pPr>
            <a:r>
              <a:rPr lang="ko-KR" altLang="en-US"/>
              <a:t>데이터 시각화 결과를 웹 형태로 손쉽게 배포 가능</a:t>
            </a:r>
          </a:p>
          <a:p>
            <a:pPr lvl="1" algn="just">
              <a:defRPr/>
            </a:pPr>
            <a:r>
              <a:rPr lang="ko-KR" altLang="en-US"/>
              <a:t>별도 서버 세팅 없이 클릭 몇 번으로 배포 완료</a:t>
            </a:r>
          </a:p>
          <a:p>
            <a:pPr lvl="1" algn="just">
              <a:defRPr/>
            </a:pPr>
            <a:r>
              <a:rPr lang="ko-KR" altLang="en-US"/>
              <a:t>분석 결과를 효율적으로 공유 하고 피드백 받기 용이</a:t>
            </a:r>
          </a:p>
          <a:p>
            <a:pPr lvl="1" algn="just">
              <a:defRPr/>
            </a:pPr>
            <a:r>
              <a:rPr lang="ko-KR" altLang="en-US"/>
              <a:t>GitHub 기반 자동 버전 관리 및 코드 수정 즉시 반영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1.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란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008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6550" lvl="0" indent="-518000" algn="just" latinLnBrk="0">
              <a:buAutoNum type="arabicPeriod"/>
              <a:defRPr/>
            </a:pPr>
            <a:r>
              <a:rPr lang="en-US" altLang="ko-KR" sz="2600"/>
              <a:t>Streamlit Cloud </a:t>
            </a:r>
            <a:r>
              <a:rPr lang="ko-KR" altLang="en-US" sz="2600"/>
              <a:t>페이지로 접속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https://streamlit.io/cloud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en-US" altLang="ko-KR" sz="2600"/>
              <a:t>Join Community Cloud </a:t>
            </a:r>
            <a:r>
              <a:rPr lang="ko-KR" altLang="en-US" sz="2600"/>
              <a:t>선택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Google</a:t>
            </a:r>
            <a:r>
              <a:rPr lang="ko-KR" altLang="en-US" sz="2600"/>
              <a:t> 계정으로 가입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en-US" altLang="ko-KR" sz="2600"/>
              <a:t>Create App </a:t>
            </a:r>
            <a:r>
              <a:rPr lang="ko-KR" altLang="en-US" sz="2600"/>
              <a:t>클릭 </a:t>
            </a:r>
            <a:r>
              <a:rPr lang="en-US" altLang="ko-KR" sz="2600"/>
              <a:t>-&gt;</a:t>
            </a:r>
            <a:r>
              <a:rPr lang="ko-KR" altLang="en-US" sz="2600"/>
              <a:t> </a:t>
            </a:r>
            <a:r>
              <a:rPr lang="en-US" altLang="ko-KR" sz="2600"/>
              <a:t>Connect to GitHub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Continue Google -&gt; GitHub </a:t>
            </a:r>
            <a:r>
              <a:rPr lang="ko-KR" altLang="en-US" sz="2600"/>
              <a:t>계정 생성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en-US" altLang="ko-KR" sz="2600"/>
              <a:t>Create App -&gt;</a:t>
            </a:r>
            <a:r>
              <a:rPr lang="ko-KR" altLang="en-US" sz="2600"/>
              <a:t> </a:t>
            </a:r>
            <a:r>
              <a:rPr lang="en-US" altLang="ko-KR" sz="2600"/>
              <a:t>Deploy a public app from a template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ko-KR" altLang="en-US" sz="2600"/>
              <a:t>정보 입력 후 </a:t>
            </a:r>
            <a:r>
              <a:rPr lang="en-US" altLang="ko-KR" sz="2600"/>
              <a:t>Deploy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</p:spTree>
    <p:extLst>
      <p:ext uri="{BB962C8B-B14F-4D97-AF65-F5344CB8AC3E}">
        <p14:creationId xmlns:p14="http://schemas.microsoft.com/office/powerpoint/2010/main" val="3818044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6550" lvl="0" indent="-518000" algn="just" latinLnBrk="0">
              <a:buAutoNum type="arabicPeriod"/>
              <a:defRPr/>
            </a:pPr>
            <a:r>
              <a:rPr lang="en-US" altLang="ko-KR" sz="2600"/>
              <a:t>Streamlit Cloud </a:t>
            </a:r>
            <a:r>
              <a:rPr lang="ko-KR" altLang="en-US" sz="2600"/>
              <a:t>페이지로 접속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https://streamlit.io/cloud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42962" y="2369490"/>
            <a:ext cx="7458076" cy="4313244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108925" y="5133976"/>
            <a:ext cx="1695450" cy="4857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7146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/>
              <a:t>Join Community Cloud </a:t>
            </a:r>
            <a:r>
              <a:rPr lang="ko-KR" altLang="en-US" sz="2600"/>
              <a:t>선택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Google</a:t>
            </a:r>
            <a:r>
              <a:rPr lang="ko-KR" altLang="en-US" sz="2600"/>
              <a:t> 계정으로 가입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824020" y="2457087"/>
            <a:ext cx="4008386" cy="4238987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66289" y="2438401"/>
            <a:ext cx="3158380" cy="4257675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080099" y="4514850"/>
            <a:ext cx="2190750" cy="3714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594950" y="3562351"/>
            <a:ext cx="2495550" cy="3714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62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143000" y="2812322"/>
            <a:ext cx="7069296" cy="3148163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/>
              <a:t>Create App </a:t>
            </a:r>
            <a:r>
              <a:rPr lang="ko-KR" altLang="en-US" sz="2600"/>
              <a:t>클릭 </a:t>
            </a:r>
            <a:r>
              <a:rPr lang="en-US" altLang="ko-KR" sz="2600"/>
              <a:t>-&gt;</a:t>
            </a:r>
            <a:r>
              <a:rPr lang="ko-KR" altLang="en-US" sz="2600"/>
              <a:t> </a:t>
            </a:r>
            <a:r>
              <a:rPr lang="en-US" altLang="ko-KR" sz="2600"/>
              <a:t>Connect to GitHub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GitHub</a:t>
            </a:r>
            <a:r>
              <a:rPr lang="ko-KR" altLang="en-US" sz="2600"/>
              <a:t> 계정과 연동 필요</a:t>
            </a:r>
            <a:r>
              <a:rPr lang="en-US" altLang="ko-KR" sz="2600"/>
              <a:t>.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961457" y="3429000"/>
            <a:ext cx="4963217" cy="2019581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7776174" y="2790823"/>
            <a:ext cx="447674" cy="2286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5156799" y="4762499"/>
            <a:ext cx="1562100" cy="3714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2706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/>
              <a:t>Continue with Google</a:t>
            </a:r>
            <a:r>
              <a:rPr lang="ko-KR" altLang="en-US" sz="2600"/>
              <a:t>로 빠른 </a:t>
            </a:r>
            <a:r>
              <a:rPr lang="en-US" altLang="ko-KR" sz="2600"/>
              <a:t>GitHub </a:t>
            </a:r>
            <a:r>
              <a:rPr lang="ko-KR" altLang="en-US" sz="2600"/>
              <a:t>계정 생성</a:t>
            </a:r>
          </a:p>
          <a:p>
            <a:pPr marL="800100" lvl="1" indent="-514350" algn="just" latinLnBrk="0">
              <a:defRPr/>
            </a:pPr>
            <a:endParaRPr lang="en-US" altLang="ko-KR" sz="2600"/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76020" y="1747403"/>
            <a:ext cx="2852599" cy="4810991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2" name="직사각형 11"/>
          <p:cNvSpPr/>
          <p:nvPr/>
        </p:nvSpPr>
        <p:spPr>
          <a:xfrm>
            <a:off x="813399" y="5153025"/>
            <a:ext cx="2657475" cy="3714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3"/>
          <a:srcRect l="50000"/>
          <a:stretch>
            <a:fillRect/>
          </a:stretch>
        </p:blipFill>
        <p:spPr>
          <a:xfrm>
            <a:off x="3981450" y="2303746"/>
            <a:ext cx="4572000" cy="39078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4" name="직사각형 13"/>
          <p:cNvSpPr/>
          <p:nvPr/>
        </p:nvSpPr>
        <p:spPr>
          <a:xfrm>
            <a:off x="5147274" y="3429000"/>
            <a:ext cx="2314574" cy="3714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028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/>
              <a:t>이메일을 통해 </a:t>
            </a:r>
            <a:r>
              <a:rPr lang="en-US" altLang="ko-KR" sz="2600"/>
              <a:t>GitHub </a:t>
            </a:r>
            <a:r>
              <a:rPr lang="ko-KR" altLang="en-US" sz="2600"/>
              <a:t>계정 생성</a:t>
            </a:r>
            <a:endParaRPr lang="en-US" altLang="ko-KR" sz="2600"/>
          </a:p>
          <a:p>
            <a:pPr marL="800100" lvl="1" indent="-514350" algn="just" latinLnBrk="0">
              <a:defRPr/>
            </a:pPr>
            <a:r>
              <a:rPr lang="ko-KR" altLang="en-US" sz="2600"/>
              <a:t>생성한 계정을 </a:t>
            </a:r>
            <a:r>
              <a:rPr lang="en-US" altLang="ko-KR" sz="2600"/>
              <a:t>Streamlit</a:t>
            </a:r>
            <a:r>
              <a:rPr lang="ko-KR" altLang="en-US" sz="2600"/>
              <a:t>과 연동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034885" y="2247899"/>
            <a:ext cx="2601003" cy="4248150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rcRect l="50000"/>
          <a:stretch>
            <a:fillRect/>
          </a:stretch>
        </p:blipFill>
        <p:spPr>
          <a:xfrm>
            <a:off x="790575" y="2370421"/>
            <a:ext cx="4572000" cy="3907856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9" name="직사각형 8"/>
          <p:cNvSpPr/>
          <p:nvPr/>
        </p:nvSpPr>
        <p:spPr>
          <a:xfrm>
            <a:off x="1956399" y="3495675"/>
            <a:ext cx="2314574" cy="37147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7338025" y="5314950"/>
            <a:ext cx="1114424" cy="31432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280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/>
              <a:t>Create App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Deploy a public app from a template</a:t>
            </a:r>
            <a:endParaRPr lang="ko-KR" altLang="en-US" sz="2600"/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사용방법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2450" y="2927830"/>
            <a:ext cx="8172450" cy="340770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3413724" y="4086225"/>
            <a:ext cx="2428875" cy="17716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838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6550" lvl="0" indent="-518000" algn="just" latinLnBrk="0">
              <a:defRPr/>
            </a:pPr>
            <a:r>
              <a:rPr lang="ko-KR" altLang="en-US" sz="2600"/>
              <a:t>페이지 정보 입력 후 </a:t>
            </a:r>
            <a:r>
              <a:rPr lang="en-US" altLang="ko-KR" sz="2600"/>
              <a:t>Deploy</a:t>
            </a:r>
          </a:p>
          <a:p>
            <a:pPr marL="803750" lvl="1" indent="-518000" algn="just" latinLnBrk="0">
              <a:defRPr/>
            </a:pPr>
            <a:r>
              <a:rPr lang="en-US" altLang="ko-KR" sz="2600"/>
              <a:t>Blank app</a:t>
            </a:r>
            <a:r>
              <a:rPr lang="ko-KR" altLang="en-US" sz="2600"/>
              <a:t> 선택</a:t>
            </a:r>
          </a:p>
          <a:p>
            <a:pPr marL="803750" lvl="1" indent="-518000" algn="just" latinLnBrk="0">
              <a:defRPr/>
            </a:pPr>
            <a:r>
              <a:rPr lang="ko-KR" altLang="en-US" sz="2600"/>
              <a:t>깃허브 저장소 이름</a:t>
            </a:r>
          </a:p>
          <a:p>
            <a:pPr marL="803750" lvl="1" indent="-518000" algn="just" latinLnBrk="0">
              <a:defRPr/>
            </a:pPr>
            <a:r>
              <a:rPr lang="ko-KR" altLang="en-US" sz="2600"/>
              <a:t>접속할 </a:t>
            </a:r>
            <a:r>
              <a:rPr lang="en-US" altLang="ko-KR" sz="2600"/>
              <a:t>URL</a:t>
            </a:r>
            <a:r>
              <a:rPr lang="ko-KR" altLang="en-US" sz="2600"/>
              <a:t> 입력</a:t>
            </a:r>
          </a:p>
          <a:p>
            <a:pPr marL="803750" lvl="1" indent="-518000" algn="just" latinLnBrk="0">
              <a:defRPr/>
            </a:pPr>
            <a:endParaRPr lang="ko-KR" altLang="en-US" sz="2600"/>
          </a:p>
          <a:p>
            <a:pPr marL="800100" lvl="1" indent="-514350" algn="just" latinLnBrk="0">
              <a:defRPr/>
            </a:pP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배포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89049" y="1644735"/>
            <a:ext cx="4754951" cy="507038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4480525" y="4191000"/>
            <a:ext cx="1114425" cy="4000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480525" y="4810125"/>
            <a:ext cx="1647825" cy="5048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480524" y="5391150"/>
            <a:ext cx="4638675" cy="6191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087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800100" lvl="1" indent="-514350" algn="just" latinLnBrk="0">
              <a:defRPr/>
            </a:pPr>
            <a:r>
              <a:rPr lang="ko-KR" altLang="en-US"/>
              <a:t>입력한 주소에서 확인</a:t>
            </a:r>
          </a:p>
          <a:p>
            <a:pPr marL="1257300" lvl="2" indent="-514350" algn="just" latinLnBrk="0">
              <a:defRPr/>
            </a:pPr>
            <a:r>
              <a:rPr lang="en-US" altLang="ko-KR"/>
              <a:t>Streamlit -&gt; My apps</a:t>
            </a:r>
            <a:r>
              <a:rPr lang="ko-KR" altLang="en-US"/>
              <a:t> 에서도 접속 가능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3.</a:t>
            </a:r>
            <a:r>
              <a:rPr lang="ko-KR" altLang="en-US"/>
              <a:t> </a:t>
            </a:r>
            <a:r>
              <a:rPr lang="en" altLang="ko-KR"/>
              <a:t>Streamlit </a:t>
            </a:r>
            <a:r>
              <a:rPr lang="en-US" altLang="ko-KR"/>
              <a:t>Cloud</a:t>
            </a:r>
            <a:r>
              <a:rPr lang="ko-KR" altLang="en-US"/>
              <a:t> 배포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8494" y="2376106"/>
            <a:ext cx="7167787" cy="3749022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105024" y="4016150"/>
            <a:ext cx="6962774" cy="2617473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2165949" y="4752975"/>
            <a:ext cx="1676400" cy="3524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156299" y="2362200"/>
            <a:ext cx="1590675" cy="2381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17240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6550" lvl="0" indent="-518000" algn="just" latinLnBrk="0">
              <a:buAutoNum type="arabicPeriod"/>
              <a:defRPr/>
            </a:pPr>
            <a:r>
              <a:rPr lang="en-US" altLang="ko-KR" sz="2600"/>
              <a:t>GitHub </a:t>
            </a:r>
            <a:r>
              <a:rPr lang="ko-KR" altLang="en-US" sz="2600"/>
              <a:t>페이지로 접속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https://github.com/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ko-KR" altLang="en-US" sz="2600"/>
              <a:t>생성한 저장소</a:t>
            </a:r>
            <a:r>
              <a:rPr lang="en-US" altLang="ko-KR" sz="2600"/>
              <a:t>(repository)</a:t>
            </a:r>
            <a:r>
              <a:rPr lang="ko-KR" altLang="en-US" sz="2600"/>
              <a:t>에 파일 생성 확인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en-US" altLang="ko-KR" sz="2600"/>
              <a:t>streamlit_app.py</a:t>
            </a:r>
            <a:r>
              <a:rPr lang="ko-KR" altLang="en-US" sz="2600"/>
              <a:t> </a:t>
            </a:r>
            <a:r>
              <a:rPr lang="en-US" altLang="ko-KR" sz="2600"/>
              <a:t>-&gt;</a:t>
            </a:r>
            <a:r>
              <a:rPr lang="ko-KR" altLang="en-US" sz="2600"/>
              <a:t> </a:t>
            </a:r>
            <a:r>
              <a:rPr lang="en-US" altLang="ko-KR" sz="2600"/>
              <a:t>edit this file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ko-KR" altLang="en-US" sz="2600"/>
              <a:t>수정본 작성 </a:t>
            </a:r>
            <a:r>
              <a:rPr lang="en-US" altLang="ko-KR" sz="2600"/>
              <a:t>-&gt;</a:t>
            </a:r>
            <a:r>
              <a:rPr lang="ko-KR" altLang="en-US" sz="2600"/>
              <a:t> </a:t>
            </a:r>
            <a:r>
              <a:rPr lang="en-US" altLang="ko-KR" sz="2600"/>
              <a:t>Commit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r>
              <a:rPr lang="ko-KR" altLang="en-US" sz="2600"/>
              <a:t>업데이트 확인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/>
              <a:t>4.</a:t>
            </a:r>
            <a:r>
              <a:rPr lang="ko-KR" altLang="en-US"/>
              <a:t> 페이지 수정 및 자동 반영</a:t>
            </a:r>
          </a:p>
        </p:txBody>
      </p:sp>
    </p:spTree>
    <p:extLst>
      <p:ext uri="{BB962C8B-B14F-4D97-AF65-F5344CB8AC3E}">
        <p14:creationId xmlns:p14="http://schemas.microsoft.com/office/powerpoint/2010/main" val="593684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6550" lvl="0" indent="-518000" algn="just" latinLnBrk="0">
              <a:buAutoNum type="arabicPeriod"/>
              <a:defRPr/>
            </a:pPr>
            <a:r>
              <a:rPr lang="en-US" altLang="ko-KR" sz="2600"/>
              <a:t>GitHub </a:t>
            </a:r>
            <a:r>
              <a:rPr lang="ko-KR" altLang="en-US" sz="2600"/>
              <a:t>페이지로 접속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https://github.com/</a:t>
            </a:r>
          </a:p>
          <a:p>
            <a:pPr marL="800100" lvl="1" indent="-514350" algn="just" latinLnBrk="0">
              <a:defRPr/>
            </a:pPr>
            <a:r>
              <a:rPr lang="ko-KR" altLang="en-US" sz="2600"/>
              <a:t>생성한 저장소 확인</a:t>
            </a:r>
            <a:endParaRPr lang="en-US" altLang="ko-KR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/>
              <a:t>4.</a:t>
            </a:r>
            <a:r>
              <a:rPr lang="ko-KR" altLang="en-US"/>
              <a:t> 페이지 수정 및 자동 반영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0356" y="2915258"/>
            <a:ext cx="8423286" cy="2894384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365725" y="3629025"/>
            <a:ext cx="942975" cy="1714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8524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/>
              <a:t>생성한 저장소</a:t>
            </a:r>
            <a:r>
              <a:rPr lang="en-US" altLang="ko-KR" sz="2600"/>
              <a:t>(repository)</a:t>
            </a:r>
            <a:r>
              <a:rPr lang="ko-KR" altLang="en-US" sz="2600"/>
              <a:t>에 파일 생성 확인</a:t>
            </a:r>
          </a:p>
          <a:p>
            <a:pPr marL="800100" lvl="1" indent="-514350" algn="just" latinLnBrk="0">
              <a:defRPr/>
            </a:pPr>
            <a:r>
              <a:rPr lang="en-US" altLang="ko-KR" sz="2600"/>
              <a:t>streamlit_aoo.py, requirements.txt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/>
              <a:t>4.</a:t>
            </a:r>
            <a:r>
              <a:rPr lang="ko-KR" altLang="en-US"/>
              <a:t> 페이지 수정 및 자동 반영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57225" y="2292218"/>
            <a:ext cx="7829549" cy="4174551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51500" y="5038726"/>
            <a:ext cx="2762250" cy="190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851500" y="4791076"/>
            <a:ext cx="2771775" cy="20002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1811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514350" lvl="1" indent="-228600" algn="just" latinLnBrk="0">
              <a:defRPr/>
            </a:pPr>
            <a:r>
              <a:rPr lang="en-US" altLang="ko-KR" sz="2600"/>
              <a:t>streamlit_app.py</a:t>
            </a:r>
            <a:r>
              <a:rPr lang="ko-KR" altLang="en-US" sz="2600"/>
              <a:t> 파일 확인</a:t>
            </a:r>
          </a:p>
          <a:p>
            <a:pPr marL="971550" lvl="2" indent="-228600" algn="just" latinLnBrk="0">
              <a:defRPr/>
            </a:pPr>
            <a:r>
              <a:rPr lang="en-US" altLang="ko-KR" sz="2600"/>
              <a:t>edit this file</a:t>
            </a:r>
            <a:r>
              <a:rPr lang="ko-KR" altLang="en-US" sz="2600"/>
              <a:t> 버튼 클릭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/>
              <a:t>4.</a:t>
            </a:r>
            <a:r>
              <a:rPr lang="ko-KR" altLang="en-US"/>
              <a:t> 페이지 수정 및 자동 반영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33362" y="2570348"/>
            <a:ext cx="8677274" cy="243904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8410574" y="3581400"/>
            <a:ext cx="180976" cy="20955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18100" y="4572001"/>
            <a:ext cx="714376" cy="190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7631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/>
              <a:t>수정본 작성</a:t>
            </a:r>
            <a:r>
              <a:rPr lang="en-US" altLang="ko-KR" sz="2600"/>
              <a:t> -&gt;Commit Changes</a:t>
            </a:r>
            <a:r>
              <a:rPr lang="ko-KR" altLang="en-US" sz="2600"/>
              <a:t> </a:t>
            </a:r>
            <a:endParaRPr lang="en-US" altLang="ko-KR" sz="2600"/>
          </a:p>
          <a:p>
            <a:pPr marL="800100" lvl="1" indent="-514350" algn="just" latinLnBrk="0">
              <a:defRPr/>
            </a:pPr>
            <a:r>
              <a:rPr lang="en-US" altLang="ko-KR" sz="2600"/>
              <a:t>Commit directly to the main branch </a:t>
            </a:r>
            <a:r>
              <a:rPr lang="ko-KR" altLang="en-US" sz="2600"/>
              <a:t>옵션</a:t>
            </a:r>
          </a:p>
          <a:p>
            <a:pPr marL="342900" lvl="0" indent="-514350" algn="just" latinLnBrk="0"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/>
              <a:t>4.</a:t>
            </a:r>
            <a:r>
              <a:rPr lang="ko-KR" altLang="en-US"/>
              <a:t> 페이지 수정 및 자동 반영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66700" y="2459868"/>
            <a:ext cx="7458074" cy="3193585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613111" y="2890499"/>
            <a:ext cx="3530888" cy="366780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7014175" y="2457450"/>
            <a:ext cx="714376" cy="19050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5680675" y="5400675"/>
            <a:ext cx="1866900" cy="2095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7995249" y="6181726"/>
            <a:ext cx="1038225" cy="26669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1856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/>
              <a:t>업데이트 확인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/>
              <a:t>4.</a:t>
            </a:r>
            <a:r>
              <a:rPr lang="ko-KR" altLang="en-US"/>
              <a:t> 페이지 수정 및 자동 반영</a:t>
            </a: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795337" y="2423765"/>
            <a:ext cx="7553325" cy="2257224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1173748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F7450-8ECE-2191-801E-34E01329E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7C53348-C090-C88E-459F-CF2AF9455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 err="1"/>
              <a:t>Streamlit</a:t>
            </a:r>
            <a:r>
              <a:rPr lang="en-US" altLang="ko-KR" sz="2600" dirty="0"/>
              <a:t> Cloud </a:t>
            </a:r>
            <a:r>
              <a:rPr lang="ko-KR" altLang="en-US" sz="2600" dirty="0"/>
              <a:t>구조</a:t>
            </a:r>
            <a:endParaRPr lang="en-US" altLang="ko-KR" sz="2600" dirty="0"/>
          </a:p>
          <a:p>
            <a:pPr marL="800100" lvl="1" indent="-514350" algn="just" latinLnBrk="0">
              <a:defRPr/>
            </a:pPr>
            <a:r>
              <a:rPr lang="en-US" altLang="ko-KR" sz="2600" dirty="0" err="1"/>
              <a:t>Streamlit</a:t>
            </a:r>
            <a:r>
              <a:rPr lang="ko-KR" altLang="en-US" sz="2600" dirty="0"/>
              <a:t>이 </a:t>
            </a:r>
            <a:r>
              <a:rPr lang="en-US" altLang="ko-KR" sz="2600" dirty="0" err="1"/>
              <a:t>Github</a:t>
            </a:r>
            <a:r>
              <a:rPr lang="ko-KR" altLang="en-US" sz="2600" dirty="0"/>
              <a:t>의 코드를 실시간으로 확인</a:t>
            </a:r>
            <a:endParaRPr lang="en-US" altLang="ko-KR" sz="2600" dirty="0"/>
          </a:p>
          <a:p>
            <a:pPr marL="800100" lvl="1" indent="-514350" algn="just" latinLnBrk="0">
              <a:defRPr/>
            </a:pPr>
            <a:r>
              <a:rPr lang="ko-KR" altLang="en-US" sz="2600" dirty="0"/>
              <a:t>새로운 코드가 올라올 시 즉시 웹에 반영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754B18-7C8C-7207-3DAD-31FDE122E30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09503F6-39DA-FBF4-D0BE-882F6E424747}"/>
              </a:ext>
            </a:extLst>
          </p:cNvPr>
          <p:cNvGrpSpPr/>
          <p:nvPr/>
        </p:nvGrpSpPr>
        <p:grpSpPr>
          <a:xfrm>
            <a:off x="1315667" y="2911147"/>
            <a:ext cx="6035617" cy="3689895"/>
            <a:chOff x="935338" y="1700651"/>
            <a:chExt cx="7193544" cy="4538806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3F8CDCD-E0E5-AF3D-AE45-9F12FDEFB0F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35338" y="4449966"/>
              <a:ext cx="2371045" cy="132778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C72DB29-83B5-54FB-29E4-14A3EEF58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44726" y="4357592"/>
              <a:ext cx="2427481" cy="142015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15FEDF1-35EB-9D9B-F371-849ABCEACF3E}"/>
                </a:ext>
              </a:extLst>
            </p:cNvPr>
            <p:cNvSpPr txBox="1"/>
            <p:nvPr/>
          </p:nvSpPr>
          <p:spPr>
            <a:xfrm>
              <a:off x="1682278" y="587012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저장소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4E13571-D569-BA64-BF7F-E99CA36A4A37}"/>
                </a:ext>
              </a:extLst>
            </p:cNvPr>
            <p:cNvSpPr txBox="1"/>
            <p:nvPr/>
          </p:nvSpPr>
          <p:spPr>
            <a:xfrm>
              <a:off x="6535300" y="5740950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서버</a:t>
              </a:r>
            </a:p>
          </p:txBody>
        </p:sp>
        <p:pic>
          <p:nvPicPr>
            <p:cNvPr id="12" name="그래픽 11" descr="클라우드 컴퓨팅 단색으로 채워진">
              <a:extLst>
                <a:ext uri="{FF2B5EF4-FFF2-40B4-BE49-F238E27FC236}">
                  <a16:creationId xmlns:a16="http://schemas.microsoft.com/office/drawing/2014/main" id="{F32F98DA-2AD7-3779-73E6-D5B0F6E71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013398" y="1700651"/>
              <a:ext cx="1690134" cy="1690134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841F39D-8F87-95BA-19A1-9B759548F2FC}"/>
                </a:ext>
              </a:extLst>
            </p:cNvPr>
            <p:cNvSpPr txBox="1"/>
            <p:nvPr/>
          </p:nvSpPr>
          <p:spPr>
            <a:xfrm>
              <a:off x="7020886" y="3074337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dirty="0"/>
                <a:t>웹서비스</a:t>
              </a:r>
            </a:p>
          </p:txBody>
        </p:sp>
        <p:pic>
          <p:nvPicPr>
            <p:cNvPr id="18" name="그래픽 17" descr="남성 프로그래머 단색으로 채워진">
              <a:extLst>
                <a:ext uri="{FF2B5EF4-FFF2-40B4-BE49-F238E27FC236}">
                  <a16:creationId xmlns:a16="http://schemas.microsoft.com/office/drawing/2014/main" id="{662F23C3-D426-D543-99F6-9AC9609295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81778" y="1818118"/>
              <a:ext cx="1478166" cy="1478166"/>
            </a:xfrm>
            <a:prstGeom prst="rect">
              <a:avLst/>
            </a:prstGeom>
          </p:spPr>
        </p:pic>
        <p:sp>
          <p:nvSpPr>
            <p:cNvPr id="20" name="아래쪽 화살표[D] 19">
              <a:extLst>
                <a:ext uri="{FF2B5EF4-FFF2-40B4-BE49-F238E27FC236}">
                  <a16:creationId xmlns:a16="http://schemas.microsoft.com/office/drawing/2014/main" id="{BC59A3AD-76A3-2EF1-70AB-9575162BFD7F}"/>
                </a:ext>
              </a:extLst>
            </p:cNvPr>
            <p:cNvSpPr/>
            <p:nvPr/>
          </p:nvSpPr>
          <p:spPr>
            <a:xfrm>
              <a:off x="1968649" y="3429000"/>
              <a:ext cx="301215" cy="92859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2" name="오른쪽 화살표[R] 21">
              <a:extLst>
                <a:ext uri="{FF2B5EF4-FFF2-40B4-BE49-F238E27FC236}">
                  <a16:creationId xmlns:a16="http://schemas.microsoft.com/office/drawing/2014/main" id="{2B4414C1-4481-3B68-FCDF-E41476976CCA}"/>
                </a:ext>
              </a:extLst>
            </p:cNvPr>
            <p:cNvSpPr/>
            <p:nvPr/>
          </p:nvSpPr>
          <p:spPr>
            <a:xfrm>
              <a:off x="3306383" y="5113858"/>
              <a:ext cx="2338343" cy="40879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3" name="아래쪽 화살표[D] 22">
              <a:extLst>
                <a:ext uri="{FF2B5EF4-FFF2-40B4-BE49-F238E27FC236}">
                  <a16:creationId xmlns:a16="http://schemas.microsoft.com/office/drawing/2014/main" id="{439C5A34-6E79-08A7-7239-07C0CF2AAE60}"/>
                </a:ext>
              </a:extLst>
            </p:cNvPr>
            <p:cNvSpPr/>
            <p:nvPr/>
          </p:nvSpPr>
          <p:spPr>
            <a:xfrm rot="10800000">
              <a:off x="6535300" y="3467216"/>
              <a:ext cx="301215" cy="92859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4" name="아래쪽 화살표[D] 23">
              <a:extLst>
                <a:ext uri="{FF2B5EF4-FFF2-40B4-BE49-F238E27FC236}">
                  <a16:creationId xmlns:a16="http://schemas.microsoft.com/office/drawing/2014/main" id="{CA660F75-4471-8938-0DD4-EA19C5F981C8}"/>
                </a:ext>
              </a:extLst>
            </p:cNvPr>
            <p:cNvSpPr/>
            <p:nvPr/>
          </p:nvSpPr>
          <p:spPr>
            <a:xfrm>
              <a:off x="6858465" y="3467216"/>
              <a:ext cx="301215" cy="928592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25" name="오른쪽 화살표[R] 24">
              <a:extLst>
                <a:ext uri="{FF2B5EF4-FFF2-40B4-BE49-F238E27FC236}">
                  <a16:creationId xmlns:a16="http://schemas.microsoft.com/office/drawing/2014/main" id="{22543FD6-84BE-0D5A-10AC-CFBEFEE86064}"/>
                </a:ext>
              </a:extLst>
            </p:cNvPr>
            <p:cNvSpPr/>
            <p:nvPr/>
          </p:nvSpPr>
          <p:spPr>
            <a:xfrm rot="10800000">
              <a:off x="3130603" y="2485873"/>
              <a:ext cx="2338343" cy="408790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954436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6F706-A78D-4335-A69C-8A1FC406A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62105A5-6C66-B5F0-D3E5-FC2335F3B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 err="1"/>
              <a:t>Streamlit</a:t>
            </a:r>
            <a:r>
              <a:rPr lang="en-US" altLang="ko-KR" sz="2600" dirty="0"/>
              <a:t> Cloud </a:t>
            </a:r>
            <a:r>
              <a:rPr lang="ko-KR" altLang="en-US" sz="2600" dirty="0"/>
              <a:t>구조</a:t>
            </a:r>
            <a:endParaRPr lang="en-US" altLang="ko-KR" sz="2600" dirty="0"/>
          </a:p>
          <a:p>
            <a:pPr marL="800100" lvl="1" indent="-514350" algn="just" latinLnBrk="0">
              <a:defRPr/>
            </a:pPr>
            <a:r>
              <a:rPr lang="ko-KR" altLang="en-US" sz="2600" dirty="0"/>
              <a:t>사용자의 컴퓨터 환경 </a:t>
            </a:r>
            <a:r>
              <a:rPr lang="en-US" altLang="ko-KR" sz="2600" dirty="0"/>
              <a:t>==</a:t>
            </a:r>
            <a:r>
              <a:rPr lang="ko-KR" altLang="en-US" sz="2600" dirty="0"/>
              <a:t> </a:t>
            </a:r>
            <a:r>
              <a:rPr lang="en-US" altLang="ko-KR" sz="2600" dirty="0" err="1"/>
              <a:t>Streamlit</a:t>
            </a:r>
            <a:r>
              <a:rPr lang="en-US" altLang="ko-KR" sz="2600" dirty="0"/>
              <a:t> </a:t>
            </a:r>
            <a:r>
              <a:rPr lang="ko-KR" altLang="en-US" sz="2600" dirty="0"/>
              <a:t>서버</a:t>
            </a:r>
            <a:endParaRPr lang="en-US" altLang="ko-KR" sz="2600" dirty="0"/>
          </a:p>
          <a:p>
            <a:pPr marL="800100" lvl="1" indent="-514350" algn="just" latinLnBrk="0">
              <a:defRPr/>
            </a:pPr>
            <a:r>
              <a:rPr lang="ko-KR" altLang="en-US" sz="2600" dirty="0"/>
              <a:t>사용자의 작업 폴더 </a:t>
            </a:r>
            <a:r>
              <a:rPr lang="en-US" altLang="ko-KR" sz="2600" dirty="0"/>
              <a:t>==</a:t>
            </a:r>
            <a:r>
              <a:rPr lang="ko-KR" altLang="en-US" sz="2600" dirty="0"/>
              <a:t> </a:t>
            </a:r>
            <a:r>
              <a:rPr lang="en-US" altLang="ko-KR" sz="2600" dirty="0"/>
              <a:t>GitHub </a:t>
            </a:r>
            <a:r>
              <a:rPr lang="ko-KR" altLang="en-US" sz="2600" dirty="0"/>
              <a:t>저장소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FAE512-230D-A3BE-DC25-37F6E13F49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5BB1E86-D0CF-04D5-A340-903ADB6964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071" y="4863759"/>
            <a:ext cx="2036735" cy="1154541"/>
          </a:xfrm>
          <a:prstGeom prst="rect">
            <a:avLst/>
          </a:prstGeom>
        </p:spPr>
      </p:pic>
      <p:pic>
        <p:nvPicPr>
          <p:cNvPr id="18" name="그래픽 17" descr="남성 프로그래머 단색으로 채워진">
            <a:extLst>
              <a:ext uri="{FF2B5EF4-FFF2-40B4-BE49-F238E27FC236}">
                <a16:creationId xmlns:a16="http://schemas.microsoft.com/office/drawing/2014/main" id="{3A4D5DBE-379B-4ABE-FBCB-C0C79DB40D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22671" y="3006644"/>
            <a:ext cx="1240229" cy="1201699"/>
          </a:xfrm>
          <a:prstGeom prst="rect">
            <a:avLst/>
          </a:prstGeom>
        </p:spPr>
      </p:pic>
      <p:sp>
        <p:nvSpPr>
          <p:cNvPr id="22" name="오른쪽 화살표[R] 21">
            <a:extLst>
              <a:ext uri="{FF2B5EF4-FFF2-40B4-BE49-F238E27FC236}">
                <a16:creationId xmlns:a16="http://schemas.microsoft.com/office/drawing/2014/main" id="{D5A55DBE-AD17-63BC-129E-9CE588452D40}"/>
              </a:ext>
            </a:extLst>
          </p:cNvPr>
          <p:cNvSpPr/>
          <p:nvPr/>
        </p:nvSpPr>
        <p:spPr>
          <a:xfrm>
            <a:off x="5359806" y="5441029"/>
            <a:ext cx="1240230" cy="332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" name="오른쪽 화살표[R] 4">
            <a:extLst>
              <a:ext uri="{FF2B5EF4-FFF2-40B4-BE49-F238E27FC236}">
                <a16:creationId xmlns:a16="http://schemas.microsoft.com/office/drawing/2014/main" id="{E718230A-9B97-2A24-4C1E-AB2A454C83A6}"/>
              </a:ext>
            </a:extLst>
          </p:cNvPr>
          <p:cNvSpPr/>
          <p:nvPr/>
        </p:nvSpPr>
        <p:spPr>
          <a:xfrm>
            <a:off x="5359806" y="3614755"/>
            <a:ext cx="1240230" cy="332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10390F-B58C-71D6-6688-B182FDDB5324}"/>
              </a:ext>
            </a:extLst>
          </p:cNvPr>
          <p:cNvSpPr txBox="1"/>
          <p:nvPr/>
        </p:nvSpPr>
        <p:spPr>
          <a:xfrm>
            <a:off x="7212664" y="3500765"/>
            <a:ext cx="1562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dirty="0"/>
              <a:t>Localhost</a:t>
            </a:r>
            <a:endParaRPr kumimoji="1" lang="ko-KR" altLang="en-US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EF6643-BCF5-FAA2-10D4-D772C17EE214}"/>
              </a:ext>
            </a:extLst>
          </p:cNvPr>
          <p:cNvSpPr txBox="1"/>
          <p:nvPr/>
        </p:nvSpPr>
        <p:spPr>
          <a:xfrm>
            <a:off x="7020470" y="5345585"/>
            <a:ext cx="2123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800" dirty="0" err="1"/>
              <a:t>streamlit.app</a:t>
            </a:r>
            <a:endParaRPr kumimoji="1" lang="ko-KR" altLang="en-US" sz="2800"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FDB52ECF-CAC9-EE4D-1CB5-8FCC4688484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382" r="14776"/>
          <a:stretch>
            <a:fillRect/>
          </a:stretch>
        </p:blipFill>
        <p:spPr>
          <a:xfrm>
            <a:off x="361949" y="5063991"/>
            <a:ext cx="1409318" cy="1079444"/>
          </a:xfrm>
          <a:prstGeom prst="rect">
            <a:avLst/>
          </a:prstGeom>
        </p:spPr>
      </p:pic>
      <p:pic>
        <p:nvPicPr>
          <p:cNvPr id="17" name="그래픽 16" descr="열린 폴더 단색으로 채워진">
            <a:extLst>
              <a:ext uri="{FF2B5EF4-FFF2-40B4-BE49-F238E27FC236}">
                <a16:creationId xmlns:a16="http://schemas.microsoft.com/office/drawing/2014/main" id="{FFC6A547-524A-EE45-0C60-975FC60A3C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4879" y="3320239"/>
            <a:ext cx="914400" cy="914400"/>
          </a:xfrm>
          <a:prstGeom prst="rect">
            <a:avLst/>
          </a:prstGeom>
        </p:spPr>
      </p:pic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F3F9171A-8009-A776-647B-AD3FE9748E36}"/>
              </a:ext>
            </a:extLst>
          </p:cNvPr>
          <p:cNvSpPr/>
          <p:nvPr/>
        </p:nvSpPr>
        <p:spPr>
          <a:xfrm>
            <a:off x="1924197" y="5437547"/>
            <a:ext cx="1240230" cy="332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1" name="오른쪽 화살표[R] 20">
            <a:extLst>
              <a:ext uri="{FF2B5EF4-FFF2-40B4-BE49-F238E27FC236}">
                <a16:creationId xmlns:a16="http://schemas.microsoft.com/office/drawing/2014/main" id="{4526D51F-0EE1-761F-080D-58FADC1003EF}"/>
              </a:ext>
            </a:extLst>
          </p:cNvPr>
          <p:cNvSpPr/>
          <p:nvPr/>
        </p:nvSpPr>
        <p:spPr>
          <a:xfrm>
            <a:off x="1924197" y="3611273"/>
            <a:ext cx="1240230" cy="332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5EBAE5-CB8B-CEE6-CC20-7D55BBCCE4DE}"/>
              </a:ext>
            </a:extLst>
          </p:cNvPr>
          <p:cNvSpPr txBox="1"/>
          <p:nvPr/>
        </p:nvSpPr>
        <p:spPr>
          <a:xfrm>
            <a:off x="567179" y="44646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저장소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CA81C1-E352-905D-A091-511A51A7F467}"/>
              </a:ext>
            </a:extLst>
          </p:cNvPr>
          <p:cNvSpPr txBox="1"/>
          <p:nvPr/>
        </p:nvSpPr>
        <p:spPr>
          <a:xfrm>
            <a:off x="3760990" y="4464649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실행 공간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E6A7B7-51B1-29DC-0CAE-C9E06DFB5C32}"/>
              </a:ext>
            </a:extLst>
          </p:cNvPr>
          <p:cNvSpPr txBox="1"/>
          <p:nvPr/>
        </p:nvSpPr>
        <p:spPr>
          <a:xfrm>
            <a:off x="7348442" y="44944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웹페이지</a:t>
            </a:r>
          </a:p>
        </p:txBody>
      </p:sp>
    </p:spTree>
    <p:extLst>
      <p:ext uri="{BB962C8B-B14F-4D97-AF65-F5344CB8AC3E}">
        <p14:creationId xmlns:p14="http://schemas.microsoft.com/office/powerpoint/2010/main" val="2001020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EDA3C-C0C5-D27A-6341-4A58099D1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그림 15">
            <a:extLst>
              <a:ext uri="{FF2B5EF4-FFF2-40B4-BE49-F238E27FC236}">
                <a16:creationId xmlns:a16="http://schemas.microsoft.com/office/drawing/2014/main" id="{2526685F-6A9E-EA53-F880-E92B8169A3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038179"/>
            <a:ext cx="7772400" cy="4214967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D536174-CC7D-29B7-C05E-D9FC55467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/>
              <a:t>GitHub </a:t>
            </a:r>
            <a:r>
              <a:rPr lang="ko-KR" altLang="en-US" sz="2600" dirty="0"/>
              <a:t>저장소 접근 후 데이터 추가</a:t>
            </a:r>
            <a:endParaRPr lang="en-US" altLang="ko-KR" sz="2600" dirty="0"/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F3B1DC-4B0A-4E27-ACD1-5A1C2F08BA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A53B6B6-2E65-8116-75C1-025481F2E509}"/>
              </a:ext>
            </a:extLst>
          </p:cNvPr>
          <p:cNvSpPr/>
          <p:nvPr/>
        </p:nvSpPr>
        <p:spPr>
          <a:xfrm>
            <a:off x="6599158" y="3518807"/>
            <a:ext cx="1478043" cy="3360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5F4D89-516D-EE5F-0856-A5FA1C98AA1C}"/>
              </a:ext>
            </a:extLst>
          </p:cNvPr>
          <p:cNvSpPr/>
          <p:nvPr/>
        </p:nvSpPr>
        <p:spPr>
          <a:xfrm>
            <a:off x="6547117" y="2864305"/>
            <a:ext cx="866054" cy="33609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3441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2EA0C-CE54-91A1-0E6A-A1ED7B178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7E5D584E-5CAA-ECFD-BC13-B7C6BDE6A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 dirty="0"/>
              <a:t>파일 업로드 후 </a:t>
            </a:r>
            <a:r>
              <a:rPr lang="en-US" altLang="ko-KR" sz="2600" dirty="0"/>
              <a:t>Commit changes</a:t>
            </a:r>
            <a:endParaRPr lang="ko-KR" altLang="en-US" sz="26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90FB4-FE47-F062-34DD-3508B48AE1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49367D-CF55-F7E0-B367-C87EE164D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65962"/>
            <a:ext cx="7772400" cy="413161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F0DAF19-A70E-D6C5-7DF6-C847F4C688C4}"/>
              </a:ext>
            </a:extLst>
          </p:cNvPr>
          <p:cNvSpPr/>
          <p:nvPr/>
        </p:nvSpPr>
        <p:spPr>
          <a:xfrm>
            <a:off x="1175656" y="5762852"/>
            <a:ext cx="936173" cy="2347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F2CCDD-E7BE-231F-3220-00D8614AE5C5}"/>
              </a:ext>
            </a:extLst>
          </p:cNvPr>
          <p:cNvSpPr/>
          <p:nvPr/>
        </p:nvSpPr>
        <p:spPr>
          <a:xfrm>
            <a:off x="3031030" y="2579917"/>
            <a:ext cx="3152056" cy="84908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2393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4B1DC-B960-CC9B-9392-4C00AC02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6701259-27E2-1718-5C89-6089AA6730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129"/>
          <a:stretch>
            <a:fillRect/>
          </a:stretch>
        </p:blipFill>
        <p:spPr>
          <a:xfrm>
            <a:off x="685800" y="2405743"/>
            <a:ext cx="7772400" cy="4013118"/>
          </a:xfrm>
          <a:prstGeom prst="rect">
            <a:avLst/>
          </a:prstGeom>
        </p:spPr>
      </p:pic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8B2C8F0-9DAC-6946-AA4D-EC83F12BF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 dirty="0"/>
              <a:t>파일 업로드 후 </a:t>
            </a:r>
            <a:r>
              <a:rPr lang="en-US" altLang="ko-KR" sz="2600" dirty="0"/>
              <a:t>Commit changes</a:t>
            </a:r>
          </a:p>
          <a:p>
            <a:pPr marL="800100" lvl="1" indent="-514350" algn="just" latinLnBrk="0">
              <a:defRPr/>
            </a:pPr>
            <a:r>
              <a:rPr lang="ko-KR" altLang="en-US" sz="2600" dirty="0"/>
              <a:t>폴더 전체 업로드 가능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85F38A-57EF-DD93-DB69-42B94C4519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4259F86-54AA-77F4-DCA8-C4BA380C8F5F}"/>
              </a:ext>
            </a:extLst>
          </p:cNvPr>
          <p:cNvSpPr/>
          <p:nvPr/>
        </p:nvSpPr>
        <p:spPr>
          <a:xfrm>
            <a:off x="827314" y="3964783"/>
            <a:ext cx="827316" cy="215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151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04C5-FDCA-7FD8-B80C-1443AB010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40096D8-2909-F0CB-9A83-1052DF73B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 err="1"/>
              <a:t>app.py</a:t>
            </a:r>
            <a:r>
              <a:rPr lang="ko-KR" altLang="en-US" sz="2600" dirty="0"/>
              <a:t>와 </a:t>
            </a:r>
            <a:r>
              <a:rPr lang="en-US" altLang="ko-KR" sz="2600" dirty="0"/>
              <a:t>csv </a:t>
            </a:r>
            <a:r>
              <a:rPr lang="ko-KR" altLang="en-US" sz="2600" dirty="0"/>
              <a:t>파일이 같은 경로에 있을 경우</a:t>
            </a:r>
            <a:r>
              <a:rPr lang="en-US" altLang="ko-KR" sz="2600" dirty="0"/>
              <a:t>.</a:t>
            </a:r>
          </a:p>
          <a:p>
            <a:pPr marL="800100" lvl="1" indent="-514350" algn="just" latinLnBrk="0">
              <a:defRPr/>
            </a:pPr>
            <a:r>
              <a:rPr lang="en-US" altLang="ko-KR" sz="2600" dirty="0" err="1"/>
              <a:t>pd.read_csv</a:t>
            </a:r>
            <a:r>
              <a:rPr lang="en-US" altLang="ko-KR" sz="2600" dirty="0"/>
              <a:t>(‘</a:t>
            </a:r>
            <a:r>
              <a:rPr lang="en-US" altLang="ko-KR" sz="2600" dirty="0" err="1"/>
              <a:t>test.py</a:t>
            </a:r>
            <a:r>
              <a:rPr lang="en-US" altLang="ko-KR" sz="2600" dirty="0"/>
              <a:t>’)</a:t>
            </a:r>
          </a:p>
          <a:p>
            <a:pPr marL="800100" lvl="1" indent="-514350" algn="just" latinLnBrk="0">
              <a:defRPr/>
            </a:pPr>
            <a:r>
              <a:rPr lang="en-US" altLang="ko-KR" sz="2600" dirty="0" err="1"/>
              <a:t>pd.read_csv</a:t>
            </a:r>
            <a:r>
              <a:rPr lang="en-US" altLang="ko-KR" sz="2600" dirty="0"/>
              <a:t>(‘./</a:t>
            </a:r>
            <a:r>
              <a:rPr lang="en-US" altLang="ko-KR" sz="2600" dirty="0" err="1"/>
              <a:t>test.py</a:t>
            </a:r>
            <a:r>
              <a:rPr lang="en-US" altLang="ko-KR" sz="2600" dirty="0"/>
              <a:t>’)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FB9F29-333F-E88C-A6F7-9EB715F48D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pic>
        <p:nvPicPr>
          <p:cNvPr id="9" name="그림 8" descr="텍스트, 스크린샷, 번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AF7348-8BE4-B43A-98D4-ECB274CD8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76" y="2943244"/>
            <a:ext cx="7772400" cy="339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77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E872-1B59-7B67-AE20-4909513D7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126407-988C-1BAE-7403-19046658B3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 err="1"/>
              <a:t>app.py</a:t>
            </a:r>
            <a:r>
              <a:rPr lang="ko-KR" altLang="en-US" sz="2600" dirty="0"/>
              <a:t>와 </a:t>
            </a:r>
            <a:r>
              <a:rPr lang="en-US" altLang="ko-KR" sz="2600" dirty="0"/>
              <a:t>csv </a:t>
            </a:r>
            <a:r>
              <a:rPr lang="ko-KR" altLang="en-US" sz="2600" dirty="0"/>
              <a:t>파일이 다른 경로에 있을 경우</a:t>
            </a:r>
            <a:r>
              <a:rPr lang="en-US" altLang="ko-KR" sz="2600" dirty="0"/>
              <a:t>.</a:t>
            </a:r>
          </a:p>
          <a:p>
            <a:pPr marL="800100" lvl="1" indent="-514350" algn="just" latinLnBrk="0">
              <a:defRPr/>
            </a:pPr>
            <a:r>
              <a:rPr lang="en-US" altLang="ko-KR" sz="2600" dirty="0" err="1"/>
              <a:t>pd.read_csv</a:t>
            </a:r>
            <a:r>
              <a:rPr lang="en-US" altLang="ko-KR" sz="2600" dirty="0"/>
              <a:t>(‘data/</a:t>
            </a:r>
            <a:r>
              <a:rPr lang="en-US" altLang="ko-KR" sz="2600" dirty="0" err="1"/>
              <a:t>test.py</a:t>
            </a:r>
            <a:r>
              <a:rPr lang="en-US" altLang="ko-KR" sz="2600" dirty="0"/>
              <a:t>’)</a:t>
            </a:r>
          </a:p>
          <a:p>
            <a:pPr marL="800100" lvl="1" indent="-514350" algn="just" latinLnBrk="0">
              <a:defRPr/>
            </a:pPr>
            <a:r>
              <a:rPr lang="en-US" altLang="ko-KR" sz="2600" dirty="0" err="1"/>
              <a:t>pd.read_csv</a:t>
            </a:r>
            <a:r>
              <a:rPr lang="en-US" altLang="ko-KR" sz="2600" dirty="0"/>
              <a:t>(‘./data/</a:t>
            </a:r>
            <a:r>
              <a:rPr lang="en-US" altLang="ko-KR" sz="2600" dirty="0" err="1"/>
              <a:t>test.py</a:t>
            </a:r>
            <a:r>
              <a:rPr lang="en-US" altLang="ko-KR" sz="2600" dirty="0"/>
              <a:t>’)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2EB61-1565-80F9-EBE7-A1676055CE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5.</a:t>
            </a:r>
            <a:r>
              <a:rPr lang="ko-KR" altLang="en-US" dirty="0"/>
              <a:t> 데이터 업로드</a:t>
            </a:r>
          </a:p>
        </p:txBody>
      </p:sp>
      <p:pic>
        <p:nvPicPr>
          <p:cNvPr id="5" name="그림 4" descr="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0B739-1703-B755-37FB-ACD5FCD413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33" y="3253980"/>
            <a:ext cx="7772400" cy="2592556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9EEC890B-7BD9-4F4E-6B63-B9912C22E970}"/>
              </a:ext>
            </a:extLst>
          </p:cNvPr>
          <p:cNvSpPr/>
          <p:nvPr/>
        </p:nvSpPr>
        <p:spPr>
          <a:xfrm>
            <a:off x="546633" y="4334927"/>
            <a:ext cx="1456338" cy="35681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6CABAD7-DDD5-5A33-1960-77BD4E325D03}"/>
              </a:ext>
            </a:extLst>
          </p:cNvPr>
          <p:cNvSpPr/>
          <p:nvPr/>
        </p:nvSpPr>
        <p:spPr>
          <a:xfrm>
            <a:off x="631371" y="5388428"/>
            <a:ext cx="849086" cy="14151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78557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 dirty="0"/>
              <a:t>페이지 설정 적용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6.</a:t>
            </a:r>
            <a:r>
              <a:rPr lang="ko-KR" altLang="en-US" dirty="0"/>
              <a:t> 페이지 기능 확인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71191" y="1795401"/>
            <a:ext cx="4420216" cy="885948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9" name="가로 글상자 8"/>
          <p:cNvSpPr txBox="1"/>
          <p:nvPr/>
        </p:nvSpPr>
        <p:spPr>
          <a:xfrm>
            <a:off x="533400" y="3072764"/>
            <a:ext cx="5838825" cy="1735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err="1"/>
              <a:t>st.set_page_config</a:t>
            </a:r>
            <a:r>
              <a:rPr lang="ko-KR" altLang="en-US" dirty="0"/>
              <a:t>(</a:t>
            </a:r>
          </a:p>
          <a:p>
            <a:pPr lvl="0">
              <a:defRPr/>
            </a:pPr>
            <a:r>
              <a:rPr lang="ko-KR" altLang="en-US" dirty="0"/>
              <a:t>    </a:t>
            </a:r>
            <a:r>
              <a:rPr lang="ko-KR" altLang="en-US" dirty="0" err="1"/>
              <a:t>page_title</a:t>
            </a:r>
            <a:r>
              <a:rPr lang="ko-KR" altLang="en-US" dirty="0"/>
              <a:t>="</a:t>
            </a:r>
            <a:r>
              <a:rPr lang="ko-KR" altLang="en-US" dirty="0" err="1"/>
              <a:t>Streamlit</a:t>
            </a:r>
            <a:r>
              <a:rPr lang="ko-KR" altLang="en-US" dirty="0"/>
              <a:t> 배포 실습 데모",</a:t>
            </a:r>
          </a:p>
          <a:p>
            <a:pPr lvl="0">
              <a:defRPr/>
            </a:pPr>
            <a:r>
              <a:rPr lang="ko-KR" altLang="en-US" dirty="0"/>
              <a:t>    </a:t>
            </a:r>
            <a:r>
              <a:rPr lang="ko-KR" altLang="en-US" dirty="0" err="1"/>
              <a:t>page_icon</a:t>
            </a:r>
            <a:r>
              <a:rPr lang="ko-KR" altLang="en-US" dirty="0"/>
              <a:t>="🚀",</a:t>
            </a:r>
          </a:p>
          <a:p>
            <a:pPr lvl="0">
              <a:defRPr/>
            </a:pPr>
            <a:r>
              <a:rPr lang="ko-KR" altLang="en-US" dirty="0"/>
              <a:t>    </a:t>
            </a:r>
            <a:r>
              <a:rPr lang="ko-KR" altLang="en-US" dirty="0" err="1"/>
              <a:t>layout</a:t>
            </a:r>
            <a:r>
              <a:rPr lang="ko-KR" altLang="en-US" dirty="0"/>
              <a:t>="</a:t>
            </a:r>
            <a:r>
              <a:rPr lang="ko-KR" altLang="en-US" dirty="0" err="1"/>
              <a:t>wide</a:t>
            </a:r>
            <a:r>
              <a:rPr lang="ko-KR" altLang="en-US" dirty="0"/>
              <a:t>"</a:t>
            </a:r>
          </a:p>
          <a:p>
            <a:pPr lvl="0">
              <a:defRPr/>
            </a:pPr>
            <a:r>
              <a:rPr lang="ko-KR" altLang="en-US" dirty="0"/>
              <a:t>)</a:t>
            </a:r>
          </a:p>
          <a:p>
            <a:pPr lvl="0">
              <a:defRPr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70322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/>
              <a:t>Markdown</a:t>
            </a:r>
            <a:r>
              <a:rPr lang="ko-KR" altLang="en-US" sz="2600"/>
              <a:t>과 좌우정렬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6.</a:t>
            </a:r>
            <a:r>
              <a:rPr lang="ko-KR" altLang="en-US" dirty="0"/>
              <a:t> 페이지 기능 확인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226928" y="3771767"/>
            <a:ext cx="5831348" cy="1126989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199821" y="2028629"/>
            <a:ext cx="5886649" cy="1400370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0" name="가로 글상자 9"/>
          <p:cNvSpPr txBox="1"/>
          <p:nvPr/>
        </p:nvSpPr>
        <p:spPr>
          <a:xfrm>
            <a:off x="390526" y="1724981"/>
            <a:ext cx="2981325" cy="3921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err="1"/>
              <a:t>st.title</a:t>
            </a:r>
            <a:r>
              <a:rPr lang="ko-KR" altLang="en-US" dirty="0"/>
              <a:t>("")</a:t>
            </a:r>
          </a:p>
          <a:p>
            <a:pPr lvl="0">
              <a:defRPr/>
            </a:pPr>
            <a:r>
              <a:rPr lang="ko-KR" altLang="en-US" dirty="0" err="1"/>
              <a:t>st.markdown</a:t>
            </a:r>
            <a:r>
              <a:rPr lang="ko-KR" altLang="en-US" dirty="0"/>
              <a:t>("")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 err="1"/>
              <a:t>with</a:t>
            </a:r>
            <a:r>
              <a:rPr lang="ko-KR" altLang="en-US" dirty="0"/>
              <a:t> </a:t>
            </a:r>
            <a:r>
              <a:rPr lang="ko-KR" altLang="en-US" dirty="0" err="1"/>
              <a:t>st.container</a:t>
            </a:r>
            <a:r>
              <a:rPr lang="ko-KR" altLang="en-US" dirty="0"/>
              <a:t>():</a:t>
            </a:r>
          </a:p>
          <a:p>
            <a:pPr lvl="0">
              <a:defRPr/>
            </a:pPr>
            <a:r>
              <a:rPr lang="ko-KR" altLang="en-US" dirty="0"/>
              <a:t>    </a:t>
            </a:r>
            <a:r>
              <a:rPr lang="ko-KR" altLang="en-US" dirty="0" err="1"/>
              <a:t>st.header</a:t>
            </a:r>
            <a:r>
              <a:rPr lang="ko-KR" altLang="en-US" dirty="0"/>
              <a:t>("")</a:t>
            </a:r>
          </a:p>
          <a:p>
            <a:pPr lvl="0">
              <a:defRPr/>
            </a:pPr>
            <a:r>
              <a:rPr lang="ko-KR" altLang="en-US" dirty="0"/>
              <a:t>    col1, col2 = </a:t>
            </a:r>
            <a:r>
              <a:rPr lang="ko-KR" altLang="en-US" dirty="0" err="1"/>
              <a:t>st.columns</a:t>
            </a:r>
            <a:r>
              <a:rPr lang="ko-KR" altLang="en-US" dirty="0"/>
              <a:t>(2)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    </a:t>
            </a:r>
            <a:r>
              <a:rPr lang="ko-KR" altLang="en-US" dirty="0" err="1"/>
              <a:t>with</a:t>
            </a:r>
            <a:r>
              <a:rPr lang="ko-KR" altLang="en-US" dirty="0"/>
              <a:t> col1: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st.info</a:t>
            </a:r>
            <a:r>
              <a:rPr lang="ko-KR" altLang="en-US" dirty="0"/>
              <a:t>()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st.success</a:t>
            </a:r>
            <a:r>
              <a:rPr lang="ko-KR" altLang="en-US" dirty="0"/>
              <a:t>()</a:t>
            </a:r>
          </a:p>
          <a:p>
            <a:pPr lvl="0">
              <a:defRPr/>
            </a:pPr>
            <a:endParaRPr lang="ko-KR" altLang="en-US" dirty="0"/>
          </a:p>
          <a:p>
            <a:pPr lvl="0">
              <a:defRPr/>
            </a:pPr>
            <a:r>
              <a:rPr lang="ko-KR" altLang="en-US" dirty="0"/>
              <a:t>    </a:t>
            </a:r>
            <a:r>
              <a:rPr lang="ko-KR" altLang="en-US" dirty="0" err="1"/>
              <a:t>with</a:t>
            </a:r>
            <a:r>
              <a:rPr lang="ko-KR" altLang="en-US" dirty="0"/>
              <a:t> col2: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st.warning</a:t>
            </a:r>
            <a:r>
              <a:rPr lang="ko-KR" altLang="en-US" dirty="0"/>
              <a:t>()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st.error</a:t>
            </a:r>
            <a:r>
              <a:rPr lang="ko-KR" alt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1225236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/>
              <a:t>데이터프레임 표시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6.</a:t>
            </a:r>
            <a:r>
              <a:rPr lang="ko-KR" altLang="en-US" dirty="0"/>
              <a:t> 페이지 기능 확인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2450" y="4773063"/>
            <a:ext cx="8039100" cy="1764425"/>
          </a:xfrm>
          <a:prstGeom prst="rect">
            <a:avLst/>
          </a:prstGeom>
          <a:ln>
            <a:solidFill>
              <a:schemeClr val="dk1"/>
            </a:solidFill>
          </a:ln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90525" y="1911430"/>
            <a:ext cx="8362950" cy="2822495"/>
          </a:xfrm>
          <a:prstGeom prst="rect">
            <a:avLst/>
          </a:prstGeom>
          <a:ln>
            <a:solidFill>
              <a:schemeClr val="dk1"/>
            </a:solidFill>
          </a:ln>
        </p:spPr>
      </p:pic>
    </p:spTree>
    <p:extLst>
      <p:ext uri="{BB962C8B-B14F-4D97-AF65-F5344CB8AC3E}">
        <p14:creationId xmlns:p14="http://schemas.microsoft.com/office/powerpoint/2010/main" val="3110041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/>
              <a:t>인터랙티브 위젯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6.</a:t>
            </a:r>
            <a:r>
              <a:rPr lang="ko-KR" altLang="en-US" dirty="0"/>
              <a:t> 페이지 기능 확인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438" y="4789204"/>
            <a:ext cx="8048624" cy="156995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9" name="가로 글상자 8"/>
          <p:cNvSpPr txBox="1"/>
          <p:nvPr/>
        </p:nvSpPr>
        <p:spPr>
          <a:xfrm>
            <a:off x="514349" y="1758315"/>
            <a:ext cx="2867025" cy="3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en-US"/>
              <a:t>slider_value = st.slider</a:t>
            </a:r>
            <a:r>
              <a:rPr lang="en-US" altLang="ko-KR"/>
              <a:t>()</a:t>
            </a:r>
          </a:p>
        </p:txBody>
      </p:sp>
      <p:sp>
        <p:nvSpPr>
          <p:cNvPr id="10" name="가로 글상자 9"/>
          <p:cNvSpPr txBox="1"/>
          <p:nvPr/>
        </p:nvSpPr>
        <p:spPr>
          <a:xfrm>
            <a:off x="600075" y="2234565"/>
            <a:ext cx="7943849" cy="2011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/>
              <a:t> </a:t>
            </a:r>
            <a:r>
              <a:rPr lang="ko-KR" altLang="en-US" dirty="0" err="1"/>
              <a:t>for</a:t>
            </a:r>
            <a:r>
              <a:rPr lang="ko-KR" altLang="en-US" dirty="0"/>
              <a:t> </a:t>
            </a:r>
            <a:r>
              <a:rPr lang="ko-KR" altLang="en-US" dirty="0" err="1"/>
              <a:t>i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range</a:t>
            </a:r>
            <a:r>
              <a:rPr lang="ko-KR" altLang="en-US" dirty="0"/>
              <a:t>(</a:t>
            </a:r>
            <a:r>
              <a:rPr lang="ko-KR" altLang="en-US" dirty="0" err="1"/>
              <a:t>slider_value</a:t>
            </a:r>
            <a:r>
              <a:rPr lang="ko-KR" altLang="en-US" dirty="0"/>
              <a:t>):</a:t>
            </a:r>
          </a:p>
          <a:p>
            <a:pPr lvl="0">
              <a:defRPr/>
            </a:pPr>
            <a:r>
              <a:rPr lang="ko-KR" altLang="en-US" dirty="0"/>
              <a:t>        # 진행 상태 업데이트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percent_complete</a:t>
            </a:r>
            <a:r>
              <a:rPr lang="ko-KR" altLang="en-US" dirty="0"/>
              <a:t> = </a:t>
            </a:r>
            <a:r>
              <a:rPr lang="ko-KR" altLang="en-US" dirty="0" err="1"/>
              <a:t>int</a:t>
            </a:r>
            <a:r>
              <a:rPr lang="ko-KR" altLang="en-US" dirty="0"/>
              <a:t>((</a:t>
            </a:r>
            <a:r>
              <a:rPr lang="ko-KR" altLang="en-US" dirty="0" err="1"/>
              <a:t>i</a:t>
            </a:r>
            <a:r>
              <a:rPr lang="ko-KR" altLang="en-US" dirty="0"/>
              <a:t> + 1) / </a:t>
            </a:r>
            <a:r>
              <a:rPr lang="ko-KR" altLang="en-US" dirty="0" err="1"/>
              <a:t>slider_value</a:t>
            </a:r>
            <a:r>
              <a:rPr lang="ko-KR" altLang="en-US" dirty="0"/>
              <a:t> * 100)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my_bar.progress</a:t>
            </a:r>
            <a:r>
              <a:rPr lang="ko-KR" altLang="en-US" dirty="0"/>
              <a:t>(</a:t>
            </a:r>
            <a:r>
              <a:rPr lang="ko-KR" altLang="en-US" dirty="0" err="1"/>
              <a:t>percent_complete</a:t>
            </a:r>
            <a:r>
              <a:rPr lang="ko-KR" altLang="en-US" dirty="0"/>
              <a:t>)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status_text.text</a:t>
            </a:r>
            <a:r>
              <a:rPr lang="ko-KR" altLang="en-US" dirty="0"/>
              <a:t>(</a:t>
            </a:r>
            <a:r>
              <a:rPr lang="ko-KR" altLang="en-US" dirty="0" err="1"/>
              <a:t>f"현재</a:t>
            </a:r>
            <a:r>
              <a:rPr lang="ko-KR" altLang="en-US" dirty="0"/>
              <a:t> {i+1} / {</a:t>
            </a:r>
            <a:r>
              <a:rPr lang="ko-KR" altLang="en-US" dirty="0" err="1"/>
              <a:t>slider_value</a:t>
            </a:r>
            <a:r>
              <a:rPr lang="ko-KR" altLang="en-US" dirty="0"/>
              <a:t>} 회 반복 중 ({</a:t>
            </a:r>
            <a:r>
              <a:rPr lang="ko-KR" altLang="en-US" dirty="0" err="1"/>
              <a:t>percent_complete</a:t>
            </a:r>
            <a:r>
              <a:rPr lang="ko-KR" altLang="en-US" dirty="0"/>
              <a:t>}%)")</a:t>
            </a:r>
          </a:p>
          <a:p>
            <a:pPr lvl="0">
              <a:defRPr/>
            </a:pPr>
            <a:r>
              <a:rPr lang="ko-KR" altLang="en-US" dirty="0"/>
              <a:t>        </a:t>
            </a:r>
            <a:r>
              <a:rPr lang="ko-KR" altLang="en-US" dirty="0" err="1"/>
              <a:t>time.sleep</a:t>
            </a:r>
            <a:r>
              <a:rPr lang="ko-KR" altLang="en-US" dirty="0"/>
              <a:t>(0.1)</a:t>
            </a:r>
          </a:p>
        </p:txBody>
      </p:sp>
    </p:spTree>
    <p:extLst>
      <p:ext uri="{BB962C8B-B14F-4D97-AF65-F5344CB8AC3E}">
        <p14:creationId xmlns:p14="http://schemas.microsoft.com/office/powerpoint/2010/main" val="191988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ko-KR" altLang="en-US" sz="2600" dirty="0"/>
              <a:t>사이드바 위젯</a:t>
            </a:r>
          </a:p>
          <a:p>
            <a:pPr marL="342900" lvl="0" indent="-514350" algn="just" latinLnBrk="0">
              <a:buFont typeface="+mj-lt"/>
              <a:buAutoNum type="arabicPeriod"/>
              <a:defRPr/>
            </a:pPr>
            <a:endParaRPr lang="ko-KR" altLang="en-US" sz="2600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en-US" altLang="ko-KR" dirty="0"/>
              <a:t>6.</a:t>
            </a:r>
            <a:r>
              <a:rPr lang="ko-KR" altLang="en-US" dirty="0"/>
              <a:t> 페이지 기능 확인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57042" y="1948815"/>
            <a:ext cx="2638793" cy="3810532"/>
          </a:xfrm>
          <a:prstGeom prst="rect">
            <a:avLst/>
          </a:prstGeom>
          <a:ln>
            <a:solidFill>
              <a:schemeClr val="dk1"/>
            </a:solidFill>
          </a:ln>
        </p:spPr>
      </p:pic>
      <p:sp>
        <p:nvSpPr>
          <p:cNvPr id="15" name="가로 글상자 14"/>
          <p:cNvSpPr txBox="1"/>
          <p:nvPr/>
        </p:nvSpPr>
        <p:spPr>
          <a:xfrm>
            <a:off x="490537" y="1948815"/>
            <a:ext cx="3324223" cy="906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dirty="0" err="1"/>
              <a:t>st.sidebar.title</a:t>
            </a:r>
            <a:r>
              <a:rPr lang="ko-KR" altLang="en-US" dirty="0"/>
              <a:t>("앱 정보")</a:t>
            </a:r>
          </a:p>
          <a:p>
            <a:pPr lvl="0">
              <a:defRPr/>
            </a:pPr>
            <a:r>
              <a:rPr lang="ko-KR" altLang="en-US" dirty="0" err="1"/>
              <a:t>st.sidebar.markdown</a:t>
            </a:r>
            <a:r>
              <a:rPr lang="ko-KR" altLang="en-US" dirty="0"/>
              <a:t>("""""")</a:t>
            </a:r>
          </a:p>
          <a:p>
            <a:pPr lvl="0">
              <a:defRPr/>
            </a:pPr>
            <a:r>
              <a:rPr lang="ko-KR" altLang="en-US" dirty="0" err="1"/>
              <a:t>st.sidebar.info</a:t>
            </a:r>
            <a:r>
              <a:rPr lang="ko-KR" altLang="en-US" dirty="0"/>
              <a:t>("")</a:t>
            </a:r>
          </a:p>
        </p:txBody>
      </p:sp>
    </p:spTree>
    <p:extLst>
      <p:ext uri="{BB962C8B-B14F-4D97-AF65-F5344CB8AC3E}">
        <p14:creationId xmlns:p14="http://schemas.microsoft.com/office/powerpoint/2010/main" val="27553007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4C07-2218-DA68-3B04-5C3E035DD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C85A9CD-F69B-5A29-752F-CA3025644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/>
              <a:t>GitHub </a:t>
            </a:r>
            <a:r>
              <a:rPr lang="ko-KR" altLang="en-US" sz="2600" dirty="0"/>
              <a:t>버전 관리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81F85E-8940-7211-35A5-BC9B6B0F91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ko-KR" altLang="en-US" dirty="0"/>
              <a:t>버전관리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6AA6C8-6CAC-DABC-FB2E-DAE9ACD56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210" y="1973137"/>
            <a:ext cx="7772400" cy="395776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72768EB-C986-06D0-F0EE-0D22DD1397E3}"/>
              </a:ext>
            </a:extLst>
          </p:cNvPr>
          <p:cNvSpPr/>
          <p:nvPr/>
        </p:nvSpPr>
        <p:spPr>
          <a:xfrm>
            <a:off x="4572000" y="2990962"/>
            <a:ext cx="1866900" cy="20954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84397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0445-6C6D-6140-BF90-AE442DAED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F3207B9C-F583-D746-B643-2EDEA5A70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/>
              <a:t>GitHub </a:t>
            </a:r>
            <a:r>
              <a:rPr lang="ko-KR" altLang="en-US" sz="2600" dirty="0"/>
              <a:t>버전 관리</a:t>
            </a:r>
            <a:endParaRPr lang="en-US" altLang="ko-KR" sz="2600" dirty="0"/>
          </a:p>
          <a:p>
            <a:pPr marL="800100" lvl="1" indent="-514350" algn="just" latinLnBrk="0">
              <a:defRPr/>
            </a:pPr>
            <a:r>
              <a:rPr lang="ko-KR" altLang="en-US" sz="2600" dirty="0"/>
              <a:t>이전에 수정한 버전 확인 가능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61E47A-1FA8-7F31-79D6-C261E00F97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ko-KR" altLang="en-US" dirty="0"/>
              <a:t>버전관리</a:t>
            </a:r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DB6CB8-FD37-5343-0620-83F4D7779D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428" y="2432844"/>
            <a:ext cx="7772400" cy="199231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E53A98E-FAEA-4AB1-18E2-3BF8FDDE2EB1}"/>
              </a:ext>
            </a:extLst>
          </p:cNvPr>
          <p:cNvSpPr/>
          <p:nvPr/>
        </p:nvSpPr>
        <p:spPr>
          <a:xfrm>
            <a:off x="990340" y="3428999"/>
            <a:ext cx="1866900" cy="28238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34907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6B68C-BFD3-649D-04FA-3BA88F2B9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90461F6-2739-C4AD-FEAF-729ADE254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49" y="927100"/>
            <a:ext cx="8514923" cy="5670550"/>
          </a:xfrm>
        </p:spPr>
        <p:txBody>
          <a:bodyPr>
            <a:normAutofit/>
          </a:bodyPr>
          <a:lstStyle/>
          <a:p>
            <a:pPr marL="342900" lvl="0" indent="-514350" algn="just" latinLnBrk="0">
              <a:defRPr/>
            </a:pPr>
            <a:r>
              <a:rPr lang="en-US" altLang="ko-KR" sz="2600" dirty="0"/>
              <a:t>GitHub </a:t>
            </a:r>
            <a:r>
              <a:rPr lang="ko-KR" altLang="en-US" sz="2600" dirty="0"/>
              <a:t>버전 관리</a:t>
            </a:r>
            <a:endParaRPr lang="en-US" altLang="ko-KR" sz="2600" dirty="0"/>
          </a:p>
          <a:p>
            <a:pPr marL="800100" lvl="1" indent="-514350" algn="just" latinLnBrk="0">
              <a:defRPr/>
            </a:pPr>
            <a:r>
              <a:rPr lang="ko-KR" altLang="en-US" sz="2600" dirty="0"/>
              <a:t>업데이트 시점과 추가</a:t>
            </a:r>
            <a:r>
              <a:rPr lang="en-US" altLang="ko-KR" sz="2600" dirty="0"/>
              <a:t>/</a:t>
            </a:r>
            <a:r>
              <a:rPr lang="ko-KR" altLang="en-US" sz="2600" dirty="0"/>
              <a:t>삭제 요소 확인 가능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664CDB-AD0F-607C-A06E-2E6D6AD716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 algn="just">
              <a:defRPr/>
            </a:pPr>
            <a:r>
              <a:rPr lang="ko-KR" altLang="en-US" dirty="0"/>
              <a:t>버전관리</a:t>
            </a:r>
          </a:p>
        </p:txBody>
      </p:sp>
      <p:pic>
        <p:nvPicPr>
          <p:cNvPr id="5" name="그림 4" descr="텍스트, 소프트웨어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66D035-7D5C-6988-EDB9-3068E8BD5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2603907"/>
            <a:ext cx="7772400" cy="332699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A4023F-D23A-9506-C867-DE244163478F}"/>
              </a:ext>
            </a:extLst>
          </p:cNvPr>
          <p:cNvSpPr/>
          <p:nvPr/>
        </p:nvSpPr>
        <p:spPr>
          <a:xfrm>
            <a:off x="2442622" y="4057854"/>
            <a:ext cx="5843753" cy="107354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7173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3995B7-2B24-448A-A217-4595083BE7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6.</a:t>
            </a:r>
            <a:r>
              <a:rPr lang="ko-KR" altLang="en-US" dirty="0"/>
              <a:t> 참고문헌</a:t>
            </a:r>
          </a:p>
        </p:txBody>
      </p:sp>
      <p:graphicFrame>
        <p:nvGraphicFramePr>
          <p:cNvPr id="9" name="내용 개체 틀 8"/>
          <p:cNvGraphicFramePr>
            <a:graphicFrameLocks noGrp="1"/>
          </p:cNvGraphicFramePr>
          <p:nvPr>
            <p:ph idx="1"/>
          </p:nvPr>
        </p:nvGraphicFramePr>
        <p:xfrm>
          <a:off x="386556" y="1772920"/>
          <a:ext cx="836709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31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 b="1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ko-KR" altLang="en-US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공식 사이트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en-US">
                          <a:hlinkClick r:id="rId2"/>
                        </a:rPr>
                        <a:t>https://streamlit.io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ko-KR" altLang="en-US"/>
                        <a:t>공식 문서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en-US">
                          <a:hlinkClick r:id="rId3"/>
                        </a:rPr>
                        <a:t>https://docs.streamlit.io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en-US"/>
                        <a:t>GitHub </a:t>
                      </a:r>
                      <a:r>
                        <a:rPr lang="ko-KR" altLang="en-US"/>
                        <a:t>저장소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  <a:defRPr/>
                      </a:pPr>
                      <a:r>
                        <a:rPr lang="en-US">
                          <a:hlinkClick r:id="rId4"/>
                        </a:rPr>
                        <a:t>https://github.com/streamlit/streamlit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307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>
          <a:xfrm>
            <a:off x="719572" y="2959531"/>
            <a:ext cx="7704856" cy="938937"/>
          </a:xfrm>
        </p:spPr>
        <p:txBody>
          <a:bodyPr/>
          <a:lstStyle/>
          <a:p>
            <a:pPr lvl="0">
              <a:defRPr/>
            </a:pPr>
            <a:r>
              <a:rPr lang="en-US" altLang="ko-KR" sz="6900"/>
              <a:t>Q&amp;A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899</Words>
  <Application>Microsoft Macintosh PowerPoint</Application>
  <PresentationFormat>화면 슬라이드 쇼(4:3)</PresentationFormat>
  <Paragraphs>165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43" baseType="lpstr">
      <vt:lpstr>나눔고딕</vt:lpstr>
      <vt:lpstr>나눔고딕 ExtraBold</vt:lpstr>
      <vt:lpstr>맑은 고딕</vt:lpstr>
      <vt:lpstr>함초롬돋움</vt:lpstr>
      <vt:lpstr>Arial</vt:lpstr>
      <vt:lpstr>Wingdings</vt:lpstr>
      <vt:lpstr>Office 테마</vt:lpstr>
      <vt:lpstr>데이터 시각화 프레임워크: Streamlit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이동현</dc:creator>
  <cp:lastModifiedBy>junjin0004@gmail.com</cp:lastModifiedBy>
  <cp:revision>836</cp:revision>
  <dcterms:created xsi:type="dcterms:W3CDTF">2018-02-13T00:42:25Z</dcterms:created>
  <dcterms:modified xsi:type="dcterms:W3CDTF">2025-11-03T08:01:38Z</dcterms:modified>
  <cp:version/>
</cp:coreProperties>
</file>